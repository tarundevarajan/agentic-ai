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We are presenting StudyMate AI, an agentic AI-powered personalized academic study assistant built for the course AD23731 Foundations of Agentic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keep material in many places and generic chatbots do not know their notes. StudyMate AI brings retrieval, Q&amp;A, quizzes and planning into one app and keeps the student 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objectives guided the project, from a conversational advisor and local retrieval to agentic RAG, personalization, quizzes, a planner and an evaluation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primary user is the student. Faculty, coordinators, the institution, administrators and developers are secondary stakeholders with their own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student uses a Streamlit interface. The advisor, quiz and planner modules and the profile store feed LangGraph workflows, which call local TF-IDF retrieval and the Groq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StudyMate AI bundles eight capabilities, each implemented as its own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advisor is a LangGraph state graph: plan searches, retrieve, draft and optionally critique. Basic mode skips the critic. The critic returns supported, revised or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Retrieval is deliberately lightweight: pypdf extraction, 900-character chunks with 120 overlap, TF-IDF cosine ranking, top four results above a 0.12 score. No embeddings or vector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component has one responsibility. Coordination uses deterministic graph transitions rather than free-form multi-agent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state holds uploads and chat history; SQLite holds the student profile, progress and approved plans. A compact student context is sent to Groq to personalize replies.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quiz is generated from retrieved notes and scored locally. The planner only drafts; a plan becomes active after the student clicks Approve and save.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compact stack: four direct dependencies — python-dotenv, langgraph, pypdf and streamlit — plus the Groq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prototype is a wide-layout Streamlit app with six pages. Code is modular and public on GitHub, with tests, evaluation scripts and Docker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an evaluation harness comparing three modes on four synthetic cases. The report deliberately does not claim benchmark numbers until a live run is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Against generic LLM chat and basic local RAG, StudyMate adds query planning, a critic, student memory, dedicated quiz and planner workflows, and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prototype is honest about its limits. The top priorities are semantic retrieval and authentication before any multi-user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StudyMate AI shows that a multi-step, controlled workflow around the LLM yields a more useful study assistant than a one-step chatbot. 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5D566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1600">
              <a:lnSpc>
                <a:spcPct val="100000"/>
              </a:lnSpc>
              <a:spcBef>
                <a:spcPts val="120"/>
              </a:spcBef>
            </a:pPr>
            <a:r>
              <a:rPr dirty="0"/>
              <a:t>Department</a:t>
            </a:r>
            <a:r>
              <a:rPr dirty="0" spc="60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AI</a:t>
            </a:r>
            <a:r>
              <a:rPr dirty="0" spc="60"/>
              <a:t> </a:t>
            </a:r>
            <a:r>
              <a:rPr dirty="0"/>
              <a:t>&amp;</a:t>
            </a:r>
            <a:r>
              <a:rPr dirty="0" spc="65"/>
              <a:t> </a:t>
            </a:r>
            <a:r>
              <a:rPr dirty="0" spc="-25"/>
              <a:t>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D566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1600">
              <a:lnSpc>
                <a:spcPct val="100000"/>
              </a:lnSpc>
              <a:spcBef>
                <a:spcPts val="120"/>
              </a:spcBef>
            </a:pPr>
            <a:r>
              <a:rPr dirty="0"/>
              <a:t>Department</a:t>
            </a:r>
            <a:r>
              <a:rPr dirty="0" spc="60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AI</a:t>
            </a:r>
            <a:r>
              <a:rPr dirty="0" spc="60"/>
              <a:t> </a:t>
            </a:r>
            <a:r>
              <a:rPr dirty="0"/>
              <a:t>&amp;</a:t>
            </a:r>
            <a:r>
              <a:rPr dirty="0" spc="65"/>
              <a:t> </a:t>
            </a:r>
            <a:r>
              <a:rPr dirty="0" spc="-25"/>
              <a:t>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D566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1600">
              <a:lnSpc>
                <a:spcPct val="100000"/>
              </a:lnSpc>
              <a:spcBef>
                <a:spcPts val="120"/>
              </a:spcBef>
            </a:pPr>
            <a:r>
              <a:rPr dirty="0"/>
              <a:t>Department</a:t>
            </a:r>
            <a:r>
              <a:rPr dirty="0" spc="60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AI</a:t>
            </a:r>
            <a:r>
              <a:rPr dirty="0" spc="60"/>
              <a:t> </a:t>
            </a:r>
            <a:r>
              <a:rPr dirty="0"/>
              <a:t>&amp;</a:t>
            </a:r>
            <a:r>
              <a:rPr dirty="0" spc="65"/>
              <a:t> </a:t>
            </a:r>
            <a:r>
              <a:rPr dirty="0" spc="-25"/>
              <a:t>ML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D566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1600">
              <a:lnSpc>
                <a:spcPct val="100000"/>
              </a:lnSpc>
              <a:spcBef>
                <a:spcPts val="120"/>
              </a:spcBef>
            </a:pPr>
            <a:r>
              <a:rPr dirty="0"/>
              <a:t>Department</a:t>
            </a:r>
            <a:r>
              <a:rPr dirty="0" spc="60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AI</a:t>
            </a:r>
            <a:r>
              <a:rPr dirty="0" spc="60"/>
              <a:t> </a:t>
            </a:r>
            <a:r>
              <a:rPr dirty="0"/>
              <a:t>&amp;</a:t>
            </a:r>
            <a:r>
              <a:rPr dirty="0" spc="65"/>
              <a:t> </a:t>
            </a:r>
            <a:r>
              <a:rPr dirty="0" spc="-25"/>
              <a:t>ML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1600">
              <a:lnSpc>
                <a:spcPct val="100000"/>
              </a:lnSpc>
              <a:spcBef>
                <a:spcPts val="120"/>
              </a:spcBef>
            </a:pPr>
            <a:r>
              <a:rPr dirty="0"/>
              <a:t>Department</a:t>
            </a:r>
            <a:r>
              <a:rPr dirty="0" spc="60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AI</a:t>
            </a:r>
            <a:r>
              <a:rPr dirty="0" spc="60"/>
              <a:t> </a:t>
            </a:r>
            <a:r>
              <a:rPr dirty="0"/>
              <a:t>&amp;</a:t>
            </a:r>
            <a:r>
              <a:rPr dirty="0" spc="65"/>
              <a:t> </a:t>
            </a:r>
            <a:r>
              <a:rPr dirty="0" spc="-25"/>
              <a:t>ML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8288000" cy="133985"/>
          </a:xfrm>
          <a:custGeom>
            <a:avLst/>
            <a:gdLst/>
            <a:ahLst/>
            <a:cxnLst/>
            <a:rect l="l" t="t" r="r" b="b"/>
            <a:pathLst>
              <a:path w="18288000" h="133985">
                <a:moveTo>
                  <a:pt x="18250375" y="133454"/>
                </a:moveTo>
                <a:lnTo>
                  <a:pt x="51434" y="133454"/>
                </a:lnTo>
                <a:lnTo>
                  <a:pt x="31423" y="129304"/>
                </a:lnTo>
                <a:lnTo>
                  <a:pt x="15073" y="118276"/>
                </a:lnTo>
                <a:lnTo>
                  <a:pt x="4045" y="101926"/>
                </a:lnTo>
                <a:lnTo>
                  <a:pt x="0" y="81915"/>
                </a:lnTo>
                <a:lnTo>
                  <a:pt x="0" y="51435"/>
                </a:lnTo>
                <a:lnTo>
                  <a:pt x="4045" y="31423"/>
                </a:lnTo>
                <a:lnTo>
                  <a:pt x="15073" y="15073"/>
                </a:lnTo>
                <a:lnTo>
                  <a:pt x="31423" y="4045"/>
                </a:lnTo>
                <a:lnTo>
                  <a:pt x="51434" y="0"/>
                </a:lnTo>
                <a:lnTo>
                  <a:pt x="18250375" y="0"/>
                </a:lnTo>
                <a:lnTo>
                  <a:pt x="18270387" y="4045"/>
                </a:lnTo>
                <a:lnTo>
                  <a:pt x="18286736" y="15073"/>
                </a:lnTo>
                <a:lnTo>
                  <a:pt x="18287999" y="16946"/>
                </a:lnTo>
                <a:lnTo>
                  <a:pt x="18287999" y="116404"/>
                </a:lnTo>
                <a:lnTo>
                  <a:pt x="18286736" y="118276"/>
                </a:lnTo>
                <a:lnTo>
                  <a:pt x="18270387" y="129304"/>
                </a:lnTo>
                <a:lnTo>
                  <a:pt x="18250375" y="133454"/>
                </a:lnTo>
                <a:close/>
              </a:path>
            </a:pathLst>
          </a:custGeom>
          <a:solidFill>
            <a:srgbClr val="3A1F5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6900" y="495690"/>
            <a:ext cx="2782867" cy="10295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81995" y="1849297"/>
            <a:ext cx="15937865" cy="57150"/>
          </a:xfrm>
          <a:custGeom>
            <a:avLst/>
            <a:gdLst/>
            <a:ahLst/>
            <a:cxnLst/>
            <a:rect l="l" t="t" r="r" b="b"/>
            <a:pathLst>
              <a:path w="15937865" h="57150">
                <a:moveTo>
                  <a:pt x="15909227" y="57150"/>
                </a:moveTo>
                <a:lnTo>
                  <a:pt x="28575" y="57150"/>
                </a:lnTo>
                <a:lnTo>
                  <a:pt x="17439" y="54908"/>
                </a:lnTo>
                <a:lnTo>
                  <a:pt x="8358" y="48791"/>
                </a:lnTo>
                <a:lnTo>
                  <a:pt x="2241" y="39710"/>
                </a:lnTo>
                <a:lnTo>
                  <a:pt x="0" y="28575"/>
                </a:lnTo>
                <a:lnTo>
                  <a:pt x="2241" y="17439"/>
                </a:lnTo>
                <a:lnTo>
                  <a:pt x="8358" y="8358"/>
                </a:lnTo>
                <a:lnTo>
                  <a:pt x="17439" y="2241"/>
                </a:lnTo>
                <a:lnTo>
                  <a:pt x="28575" y="0"/>
                </a:lnTo>
                <a:lnTo>
                  <a:pt x="15909227" y="0"/>
                </a:lnTo>
                <a:lnTo>
                  <a:pt x="15920362" y="2241"/>
                </a:lnTo>
                <a:lnTo>
                  <a:pt x="15929444" y="8358"/>
                </a:lnTo>
                <a:lnTo>
                  <a:pt x="15935561" y="17439"/>
                </a:lnTo>
                <a:lnTo>
                  <a:pt x="15937802" y="28575"/>
                </a:lnTo>
                <a:lnTo>
                  <a:pt x="15935561" y="39710"/>
                </a:lnTo>
                <a:lnTo>
                  <a:pt x="15929444" y="48791"/>
                </a:lnTo>
                <a:lnTo>
                  <a:pt x="15920362" y="54908"/>
                </a:lnTo>
                <a:lnTo>
                  <a:pt x="15909227" y="57150"/>
                </a:lnTo>
                <a:close/>
              </a:path>
            </a:pathLst>
          </a:custGeom>
          <a:solidFill>
            <a:srgbClr val="6E4A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36748" y="787771"/>
            <a:ext cx="755886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5D566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823183" y="9717124"/>
            <a:ext cx="2492165" cy="434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1600">
              <a:lnSpc>
                <a:spcPct val="100000"/>
              </a:lnSpc>
              <a:spcBef>
                <a:spcPts val="120"/>
              </a:spcBef>
            </a:pPr>
            <a:r>
              <a:rPr dirty="0"/>
              <a:t>Department</a:t>
            </a:r>
            <a:r>
              <a:rPr dirty="0" spc="60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AI</a:t>
            </a:r>
            <a:r>
              <a:rPr dirty="0" spc="60"/>
              <a:t> </a:t>
            </a:r>
            <a:r>
              <a:rPr dirty="0"/>
              <a:t>&amp;</a:t>
            </a:r>
            <a:r>
              <a:rPr dirty="0" spc="65"/>
              <a:t> </a:t>
            </a:r>
            <a:r>
              <a:rPr dirty="0" spc="-25"/>
              <a:t>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panel"/>
          <p:cNvSpPr/>
          <p:nvPr/>
        </p:nvSpPr>
        <p:spPr>
          <a:xfrm>
            <a:off x="1143000" y="4114800"/>
            <a:ext cx="16002000" cy="31089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343400"/>
            <a:ext cx="16002000" cy="1280160"/>
          </a:xfrm>
        </p:spPr>
        <p:txBody>
          <a:bodyPr wrap="square"/>
          <a:lstStyle/>
          <a:p>
            <a:pPr algn="ctr"/>
            <a:r>
              <a:rPr sz="6600">
                <a:solidFill>
                  <a:srgbClr val="F6F1E6"/>
                </a:solidFill>
              </a:rPr>
              <a:t>StudyMate AI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1</a:t>
            </a:r>
          </a:p>
        </p:txBody>
      </p:sp>
      <p:sp>
        <p:nvSpPr>
          <p:cNvPr id="5" name="Department heading"/>
          <p:cNvSpPr txBox="1"/>
          <p:nvPr/>
        </p:nvSpPr>
        <p:spPr>
          <a:xfrm>
            <a:off x="1143000" y="2331720"/>
            <a:ext cx="160020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5D5661"/>
                </a:solidFill>
                <a:latin typeface="Times New Roman"/>
              </a:rPr>
              <a:t>DEPARTMENT OF ARTIFICIAL INTELLIGENCE AND MACHINE LEARNING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1143000" y="5715000"/>
            <a:ext cx="16002000" cy="1097280"/>
          </a:xfrm>
          <a:prstGeom prst="rect">
            <a:avLst/>
          </a:prstGeom>
          <a:noFill/>
        </p:spPr>
        <p:txBody>
          <a:bodyPr wrap="square" anchor="t" lIns="274320" tIns="0" rIns="27432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F6F1E6"/>
                </a:solidFill>
                <a:latin typeface="Times New Roman"/>
              </a:rPr>
              <a:t>An Agentic AI-Powered Personalized Academic Study Assistant</a:t>
            </a:r>
          </a:p>
        </p:txBody>
      </p:sp>
      <p:sp>
        <p:nvSpPr>
          <p:cNvPr id="8" name="Presenters"/>
          <p:cNvSpPr txBox="1"/>
          <p:nvPr/>
        </p:nvSpPr>
        <p:spPr>
          <a:xfrm>
            <a:off x="1463040" y="7680960"/>
            <a:ext cx="7498079" cy="1828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5D5661"/>
                </a:solidFill>
                <a:latin typeface="Arial"/>
              </a:rPr>
              <a:t>Presented by</a:t>
            </a:r>
          </a:p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5D5661"/>
                </a:solidFill>
                <a:latin typeface="Arial"/>
              </a:rPr>
              <a:t>Tarun Aanand S G — 231501172</a:t>
            </a:r>
          </a:p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5D5661"/>
                </a:solidFill>
                <a:latin typeface="Arial"/>
              </a:rPr>
              <a:t>Tarun A D — 231501171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5D5661"/>
                </a:solidFill>
                <a:latin typeface="Arial"/>
              </a:rPr>
              <a:t>Sai Senthil M — 231501140</a:t>
            </a:r>
          </a:p>
        </p:txBody>
      </p:sp>
      <p:sp>
        <p:nvSpPr>
          <p:cNvPr id="9" name="Course details"/>
          <p:cNvSpPr txBox="1"/>
          <p:nvPr/>
        </p:nvSpPr>
        <p:spPr>
          <a:xfrm>
            <a:off x="9418320" y="7680960"/>
            <a:ext cx="7680960" cy="1828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5D5661"/>
                </a:solidFill>
                <a:latin typeface="Arial"/>
              </a:rPr>
              <a:t>Course</a:t>
            </a:r>
          </a:p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5D5661"/>
                </a:solidFill>
                <a:latin typeface="Arial"/>
              </a:rPr>
              <a:t>AD23731 – Foundations of Agentic AI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5D5661"/>
                </a:solidFill>
                <a:latin typeface="Arial"/>
              </a:rPr>
              <a:t>Rajalakshmi Engineering College, Thandalam, Chennai – 602105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The Problem &amp; Our Solution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2</a:t>
            </a:r>
          </a:p>
        </p:txBody>
      </p:sp>
      <p:sp>
        <p:nvSpPr>
          <p:cNvPr id="5" name="Problem card"/>
          <p:cNvSpPr/>
          <p:nvPr/>
        </p:nvSpPr>
        <p:spPr>
          <a:xfrm>
            <a:off x="1143000" y="2286000"/>
            <a:ext cx="7818120" cy="521208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The problem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Lecture notes, slides and textbooks are scattered across files and apps. Students must find the passage, interpret it and organise it themselves — and a generic LLM chat does not guarantee its answer rests on their own material.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Switching between notes, chat, quiz and planning tools wastes study time, and ungrounded answers can mislead.</a:t>
            </a:r>
          </a:p>
        </p:txBody>
      </p:sp>
      <p:sp>
        <p:nvSpPr>
          <p:cNvPr id="6" name="Approach card"/>
          <p:cNvSpPr/>
          <p:nvPr/>
        </p:nvSpPr>
        <p:spPr>
          <a:xfrm>
            <a:off x="9326880" y="2286000"/>
            <a:ext cx="7818120" cy="521208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The StudyMate AI approach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One Streamlit app that answers questions from the student's own uploaded PDF, TXT and Markdown notes.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A LangGraph workflow plans searches, retrieves local evidence, drafts an answer and optionally critiques it.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Profile, progress, quizzes and a study planner share the same student context — and plans need explicit approval.</a:t>
            </a:r>
          </a:p>
        </p:txBody>
      </p:sp>
      <p:sp>
        <p:nvSpPr>
          <p:cNvPr id="7" name="Tagline banner"/>
          <p:cNvSpPr/>
          <p:nvPr/>
        </p:nvSpPr>
        <p:spPr>
          <a:xfrm>
            <a:off x="1143000" y="7863840"/>
            <a:ext cx="16002000" cy="12801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6F1E6"/>
                </a:solidFill>
                <a:latin typeface="Arial"/>
              </a:rPr>
              <a:t>Course-grounded answers, visible sources, student in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Project Objectives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3</a:t>
            </a:r>
          </a:p>
        </p:txBody>
      </p:sp>
      <p:sp>
        <p:nvSpPr>
          <p:cNvPr id="5" name="Objective card 1"/>
          <p:cNvSpPr/>
          <p:nvPr/>
        </p:nvSpPr>
        <p:spPr>
          <a:xfrm>
            <a:off x="1143000" y="22860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bjective number 1"/>
          <p:cNvSpPr/>
          <p:nvPr/>
        </p:nvSpPr>
        <p:spPr>
          <a:xfrm>
            <a:off x="1417320" y="2560320"/>
            <a:ext cx="777240" cy="777240"/>
          </a:xfrm>
          <a:prstGeom prst="ellipse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A1F5C"/>
                </a:solidFill>
                <a:latin typeface="Arial"/>
              </a:rPr>
              <a:t>1</a:t>
            </a:r>
          </a:p>
        </p:txBody>
      </p:sp>
      <p:sp>
        <p:nvSpPr>
          <p:cNvPr id="7" name="Objective text 1"/>
          <p:cNvSpPr txBox="1"/>
          <p:nvPr/>
        </p:nvSpPr>
        <p:spPr>
          <a:xfrm>
            <a:off x="1234440" y="3474720"/>
            <a:ext cx="3566160" cy="2103120"/>
          </a:xfrm>
          <a:prstGeom prst="rect">
            <a:avLst/>
          </a:prstGeom>
          <a:noFill/>
        </p:spPr>
        <p:txBody>
          <a:bodyPr wrap="square" anchor="t" lIns="182880" rIns="13716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Conversational AI advisor for explanations and study guidance</a:t>
            </a:r>
          </a:p>
        </p:txBody>
      </p:sp>
      <p:sp>
        <p:nvSpPr>
          <p:cNvPr id="8" name="Objective card 2"/>
          <p:cNvSpPr/>
          <p:nvPr/>
        </p:nvSpPr>
        <p:spPr>
          <a:xfrm>
            <a:off x="5230368" y="22860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bjective number 2"/>
          <p:cNvSpPr/>
          <p:nvPr/>
        </p:nvSpPr>
        <p:spPr>
          <a:xfrm>
            <a:off x="5504688" y="2560320"/>
            <a:ext cx="777240" cy="777240"/>
          </a:xfrm>
          <a:prstGeom prst="ellipse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A1F5C"/>
                </a:solidFill>
                <a:latin typeface="Arial"/>
              </a:rPr>
              <a:t>2</a:t>
            </a:r>
          </a:p>
        </p:txBody>
      </p:sp>
      <p:sp>
        <p:nvSpPr>
          <p:cNvPr id="10" name="Objective text 2"/>
          <p:cNvSpPr txBox="1"/>
          <p:nvPr/>
        </p:nvSpPr>
        <p:spPr>
          <a:xfrm>
            <a:off x="5321807" y="3474720"/>
            <a:ext cx="3566160" cy="2103120"/>
          </a:xfrm>
          <a:prstGeom prst="rect">
            <a:avLst/>
          </a:prstGeom>
          <a:noFill/>
        </p:spPr>
        <p:txBody>
          <a:bodyPr wrap="square" anchor="t" lIns="182880" rIns="13716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Upload PDF, TXT and Markdown notes and make them searchable</a:t>
            </a:r>
          </a:p>
        </p:txBody>
      </p:sp>
      <p:sp>
        <p:nvSpPr>
          <p:cNvPr id="11" name="Objective card 3"/>
          <p:cNvSpPr/>
          <p:nvPr/>
        </p:nvSpPr>
        <p:spPr>
          <a:xfrm>
            <a:off x="9317736" y="22860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bjective number 3"/>
          <p:cNvSpPr/>
          <p:nvPr/>
        </p:nvSpPr>
        <p:spPr>
          <a:xfrm>
            <a:off x="9592056" y="2560320"/>
            <a:ext cx="777240" cy="777240"/>
          </a:xfrm>
          <a:prstGeom prst="ellipse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A1F5C"/>
                </a:solidFill>
                <a:latin typeface="Arial"/>
              </a:rPr>
              <a:t>3</a:t>
            </a:r>
          </a:p>
        </p:txBody>
      </p:sp>
      <p:sp>
        <p:nvSpPr>
          <p:cNvPr id="13" name="Objective text 3"/>
          <p:cNvSpPr txBox="1"/>
          <p:nvPr/>
        </p:nvSpPr>
        <p:spPr>
          <a:xfrm>
            <a:off x="9409176" y="3474720"/>
            <a:ext cx="3566160" cy="2103120"/>
          </a:xfrm>
          <a:prstGeom prst="rect">
            <a:avLst/>
          </a:prstGeom>
          <a:noFill/>
        </p:spPr>
        <p:txBody>
          <a:bodyPr wrap="square" anchor="t" lIns="182880" rIns="13716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Local TF-IDF cosine retrieval as a lightweight RAG</a:t>
            </a:r>
          </a:p>
        </p:txBody>
      </p:sp>
      <p:sp>
        <p:nvSpPr>
          <p:cNvPr id="14" name="Objective card 4"/>
          <p:cNvSpPr/>
          <p:nvPr/>
        </p:nvSpPr>
        <p:spPr>
          <a:xfrm>
            <a:off x="13405104" y="22860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bjective number 4"/>
          <p:cNvSpPr/>
          <p:nvPr/>
        </p:nvSpPr>
        <p:spPr>
          <a:xfrm>
            <a:off x="13679424" y="2560320"/>
            <a:ext cx="777240" cy="777240"/>
          </a:xfrm>
          <a:prstGeom prst="ellipse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A1F5C"/>
                </a:solidFill>
                <a:latin typeface="Arial"/>
              </a:rPr>
              <a:t>4</a:t>
            </a:r>
          </a:p>
        </p:txBody>
      </p:sp>
      <p:sp>
        <p:nvSpPr>
          <p:cNvPr id="16" name="Objective text 4"/>
          <p:cNvSpPr txBox="1"/>
          <p:nvPr/>
        </p:nvSpPr>
        <p:spPr>
          <a:xfrm>
            <a:off x="13496544" y="3474720"/>
            <a:ext cx="3566160" cy="2103120"/>
          </a:xfrm>
          <a:prstGeom prst="rect">
            <a:avLst/>
          </a:prstGeom>
          <a:noFill/>
        </p:spPr>
        <p:txBody>
          <a:bodyPr wrap="square" anchor="t" lIns="182880" rIns="13716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Agentic RAG: query planning and answer critique with LangGraph + Groq</a:t>
            </a:r>
          </a:p>
        </p:txBody>
      </p:sp>
      <p:sp>
        <p:nvSpPr>
          <p:cNvPr id="17" name="Objective card 5"/>
          <p:cNvSpPr/>
          <p:nvPr/>
        </p:nvSpPr>
        <p:spPr>
          <a:xfrm>
            <a:off x="1143000" y="59436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bjective number 5"/>
          <p:cNvSpPr/>
          <p:nvPr/>
        </p:nvSpPr>
        <p:spPr>
          <a:xfrm>
            <a:off x="1417320" y="6217920"/>
            <a:ext cx="777240" cy="777240"/>
          </a:xfrm>
          <a:prstGeom prst="ellipse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A1F5C"/>
                </a:solidFill>
                <a:latin typeface="Arial"/>
              </a:rPr>
              <a:t>5</a:t>
            </a:r>
          </a:p>
        </p:txBody>
      </p:sp>
      <p:sp>
        <p:nvSpPr>
          <p:cNvPr id="19" name="Objective text 5"/>
          <p:cNvSpPr txBox="1"/>
          <p:nvPr/>
        </p:nvSpPr>
        <p:spPr>
          <a:xfrm>
            <a:off x="1234440" y="7132320"/>
            <a:ext cx="3566160" cy="2103120"/>
          </a:xfrm>
          <a:prstGeom prst="rect">
            <a:avLst/>
          </a:prstGeom>
          <a:noFill/>
        </p:spPr>
        <p:txBody>
          <a:bodyPr wrap="square" anchor="t" lIns="182880" rIns="13716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Personalize replies using profile, preferences, memory and progress</a:t>
            </a:r>
          </a:p>
        </p:txBody>
      </p:sp>
      <p:sp>
        <p:nvSpPr>
          <p:cNvPr id="20" name="Objective card 6"/>
          <p:cNvSpPr/>
          <p:nvPr/>
        </p:nvSpPr>
        <p:spPr>
          <a:xfrm>
            <a:off x="5230368" y="59436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bjective number 6"/>
          <p:cNvSpPr/>
          <p:nvPr/>
        </p:nvSpPr>
        <p:spPr>
          <a:xfrm>
            <a:off x="5504688" y="6217920"/>
            <a:ext cx="777240" cy="777240"/>
          </a:xfrm>
          <a:prstGeom prst="ellipse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A1F5C"/>
                </a:solidFill>
                <a:latin typeface="Arial"/>
              </a:rPr>
              <a:t>6</a:t>
            </a:r>
          </a:p>
        </p:txBody>
      </p:sp>
      <p:sp>
        <p:nvSpPr>
          <p:cNvPr id="22" name="Objective text 6"/>
          <p:cNvSpPr txBox="1"/>
          <p:nvPr/>
        </p:nvSpPr>
        <p:spPr>
          <a:xfrm>
            <a:off x="5321807" y="7132320"/>
            <a:ext cx="3566160" cy="2103120"/>
          </a:xfrm>
          <a:prstGeom prst="rect">
            <a:avLst/>
          </a:prstGeom>
          <a:noFill/>
        </p:spPr>
        <p:txBody>
          <a:bodyPr wrap="square" anchor="t" lIns="182880" rIns="13716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Validated MCQ quizzes and a study planner that needs approval</a:t>
            </a:r>
          </a:p>
        </p:txBody>
      </p:sp>
      <p:sp>
        <p:nvSpPr>
          <p:cNvPr id="23" name="Objective card 7"/>
          <p:cNvSpPr/>
          <p:nvPr/>
        </p:nvSpPr>
        <p:spPr>
          <a:xfrm>
            <a:off x="9317736" y="59436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bjective number 7"/>
          <p:cNvSpPr/>
          <p:nvPr/>
        </p:nvSpPr>
        <p:spPr>
          <a:xfrm>
            <a:off x="9592056" y="6217920"/>
            <a:ext cx="777240" cy="777240"/>
          </a:xfrm>
          <a:prstGeom prst="ellipse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A1F5C"/>
                </a:solidFill>
                <a:latin typeface="Arial"/>
              </a:rPr>
              <a:t>7</a:t>
            </a:r>
          </a:p>
        </p:txBody>
      </p:sp>
      <p:sp>
        <p:nvSpPr>
          <p:cNvPr id="25" name="Objective text 7"/>
          <p:cNvSpPr txBox="1"/>
          <p:nvPr/>
        </p:nvSpPr>
        <p:spPr>
          <a:xfrm>
            <a:off x="9409176" y="7132320"/>
            <a:ext cx="3566160" cy="2103120"/>
          </a:xfrm>
          <a:prstGeom prst="rect">
            <a:avLst/>
          </a:prstGeom>
          <a:noFill/>
        </p:spPr>
        <p:txBody>
          <a:bodyPr wrap="square" anchor="t" lIns="182880" rIns="13716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Evaluation harness: no RAG vs basic RAG vs agentic RAG</a:t>
            </a:r>
          </a:p>
        </p:txBody>
      </p:sp>
      <p:sp>
        <p:nvSpPr>
          <p:cNvPr id="26" name="Objective card 8"/>
          <p:cNvSpPr/>
          <p:nvPr/>
        </p:nvSpPr>
        <p:spPr>
          <a:xfrm>
            <a:off x="13405104" y="59436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bjective number 8"/>
          <p:cNvSpPr/>
          <p:nvPr/>
        </p:nvSpPr>
        <p:spPr>
          <a:xfrm>
            <a:off x="13679424" y="6217920"/>
            <a:ext cx="777240" cy="777240"/>
          </a:xfrm>
          <a:prstGeom prst="ellipse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3A1F5C"/>
                </a:solidFill>
                <a:latin typeface="Arial"/>
              </a:rPr>
              <a:t>8</a:t>
            </a:r>
          </a:p>
        </p:txBody>
      </p:sp>
      <p:sp>
        <p:nvSpPr>
          <p:cNvPr id="28" name="Objective text 8"/>
          <p:cNvSpPr txBox="1"/>
          <p:nvPr/>
        </p:nvSpPr>
        <p:spPr>
          <a:xfrm>
            <a:off x="13496544" y="7132320"/>
            <a:ext cx="3566160" cy="2103120"/>
          </a:xfrm>
          <a:prstGeom prst="rect">
            <a:avLst/>
          </a:prstGeom>
          <a:noFill/>
        </p:spPr>
        <p:txBody>
          <a:bodyPr wrap="square" anchor="t" lIns="182880" rIns="13716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Modular Python design: config, retrieval, storage, workflows,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Users &amp; Stakeholders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4</a:t>
            </a:r>
          </a:p>
        </p:txBody>
      </p:sp>
      <p:sp>
        <p:nvSpPr>
          <p:cNvPr id="5" name="Stakeholder 1"/>
          <p:cNvSpPr/>
          <p:nvPr/>
        </p:nvSpPr>
        <p:spPr>
          <a:xfrm>
            <a:off x="1143000" y="2286000"/>
            <a:ext cx="5120640" cy="297180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Students</a:t>
            </a:r>
          </a:p>
          <a:p>
            <a:pPr algn="l">
              <a:spcAft>
                <a:spcPts val="1000"/>
              </a:spcAft>
            </a:pPr>
            <a:r>
              <a:rPr sz="2000" b="0" i="1">
                <a:solidFill>
                  <a:srgbClr val="E6DAF3"/>
                </a:solidFill>
                <a:latin typeface="Arial"/>
              </a:rPr>
              <a:t>Primary user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Fast explanations, course-grounded answers, quizzes and study planning</a:t>
            </a:r>
          </a:p>
        </p:txBody>
      </p:sp>
      <p:sp>
        <p:nvSpPr>
          <p:cNvPr id="6" name="Stakeholder 2"/>
          <p:cNvSpPr/>
          <p:nvPr/>
        </p:nvSpPr>
        <p:spPr>
          <a:xfrm>
            <a:off x="6583679" y="2286000"/>
            <a:ext cx="5120640" cy="297180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Faculty / Instructors</a:t>
            </a:r>
          </a:p>
          <a:p>
            <a:pPr algn="l">
              <a:spcAft>
                <a:spcPts val="1000"/>
              </a:spcAft>
            </a:pPr>
            <a:r>
              <a:rPr sz="2000" b="0" i="1">
                <a:solidFill>
                  <a:srgbClr val="E6DAF3"/>
                </a:solidFill>
                <a:latin typeface="Arial"/>
              </a:rPr>
              <a:t>Content authority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Course material alignment and reliable student support</a:t>
            </a:r>
          </a:p>
        </p:txBody>
      </p:sp>
      <p:sp>
        <p:nvSpPr>
          <p:cNvPr id="7" name="Stakeholder 3"/>
          <p:cNvSpPr/>
          <p:nvPr/>
        </p:nvSpPr>
        <p:spPr>
          <a:xfrm>
            <a:off x="12024359" y="2286000"/>
            <a:ext cx="5120640" cy="297180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Academic Coordinators</a:t>
            </a:r>
          </a:p>
          <a:p>
            <a:pPr algn="l">
              <a:spcAft>
                <a:spcPts val="1000"/>
              </a:spcAft>
            </a:pPr>
            <a:r>
              <a:rPr sz="2000" b="0" i="1">
                <a:solidFill>
                  <a:srgbClr val="E6DAF3"/>
                </a:solidFill>
                <a:latin typeface="Arial"/>
              </a:rPr>
              <a:t>Program oversight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Consistent learning support and progress visibility</a:t>
            </a:r>
          </a:p>
        </p:txBody>
      </p:sp>
      <p:sp>
        <p:nvSpPr>
          <p:cNvPr id="8" name="Stakeholder 4"/>
          <p:cNvSpPr/>
          <p:nvPr/>
        </p:nvSpPr>
        <p:spPr>
          <a:xfrm>
            <a:off x="1143000" y="5532120"/>
            <a:ext cx="5120640" cy="297180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Institution / Department</a:t>
            </a:r>
          </a:p>
          <a:p>
            <a:pPr algn="l">
              <a:spcAft>
                <a:spcPts val="1000"/>
              </a:spcAft>
            </a:pPr>
            <a:r>
              <a:rPr sz="2000" b="0" i="1">
                <a:solidFill>
                  <a:srgbClr val="E6DAF3"/>
                </a:solidFill>
                <a:latin typeface="Arial"/>
              </a:rPr>
              <a:t>Business owner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Scalable, maintainable academic assistance platform</a:t>
            </a:r>
          </a:p>
        </p:txBody>
      </p:sp>
      <p:sp>
        <p:nvSpPr>
          <p:cNvPr id="9" name="Stakeholder 5"/>
          <p:cNvSpPr/>
          <p:nvPr/>
        </p:nvSpPr>
        <p:spPr>
          <a:xfrm>
            <a:off x="6583679" y="5532120"/>
            <a:ext cx="5120640" cy="297180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System Administrator</a:t>
            </a:r>
          </a:p>
          <a:p>
            <a:pPr algn="l">
              <a:spcAft>
                <a:spcPts val="1000"/>
              </a:spcAft>
            </a:pPr>
            <a:r>
              <a:rPr sz="2000" b="0" i="1">
                <a:solidFill>
                  <a:srgbClr val="E6DAF3"/>
                </a:solidFill>
                <a:latin typeface="Arial"/>
              </a:rPr>
              <a:t>Technical operator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Configuration, deployment, maintenance and monitoring</a:t>
            </a:r>
          </a:p>
        </p:txBody>
      </p:sp>
      <p:sp>
        <p:nvSpPr>
          <p:cNvPr id="10" name="Stakeholder 6"/>
          <p:cNvSpPr/>
          <p:nvPr/>
        </p:nvSpPr>
        <p:spPr>
          <a:xfrm>
            <a:off x="12024359" y="5532120"/>
            <a:ext cx="5120640" cy="297180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Project Developers</a:t>
            </a:r>
          </a:p>
          <a:p>
            <a:pPr algn="l">
              <a:spcAft>
                <a:spcPts val="1000"/>
              </a:spcAft>
            </a:pPr>
            <a:r>
              <a:rPr sz="2000" b="0" i="1">
                <a:solidFill>
                  <a:srgbClr val="E6DAF3"/>
                </a:solidFill>
                <a:latin typeface="Arial"/>
              </a:rPr>
              <a:t>Development team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Testable architecture and extensible modules</a:t>
            </a:r>
          </a:p>
        </p:txBody>
      </p:sp>
      <p:sp>
        <p:nvSpPr>
          <p:cNvPr id="11" name="Decision maker banner"/>
          <p:cNvSpPr/>
          <p:nvPr/>
        </p:nvSpPr>
        <p:spPr>
          <a:xfrm>
            <a:off x="1143000" y="8595360"/>
            <a:ext cx="16002000" cy="86868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3A1F5C"/>
                </a:solidFill>
                <a:latin typeface="Arial"/>
              </a:rPr>
              <a:t>The student stays the decision maker: the AI proposes a plan, the student approves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Overall System Architecture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5</a:t>
            </a:r>
          </a:p>
        </p:txBody>
      </p:sp>
      <p:sp>
        <p:nvSpPr>
          <p:cNvPr id="5" name="Arch student"/>
          <p:cNvSpPr/>
          <p:nvPr/>
        </p:nvSpPr>
        <p:spPr>
          <a:xfrm>
            <a:off x="4503420" y="2286000"/>
            <a:ext cx="3108960" cy="86868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3A1F5C"/>
                </a:solidFill>
                <a:latin typeface="Arial"/>
              </a:rPr>
              <a:t>Student</a:t>
            </a:r>
          </a:p>
        </p:txBody>
      </p:sp>
      <p:sp>
        <p:nvSpPr>
          <p:cNvPr id="6" name="Arch streamlit"/>
          <p:cNvSpPr/>
          <p:nvPr/>
        </p:nvSpPr>
        <p:spPr>
          <a:xfrm>
            <a:off x="3589020" y="3749039"/>
            <a:ext cx="4937760" cy="86868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Streamlit Web Interface</a:t>
            </a:r>
          </a:p>
        </p:txBody>
      </p:sp>
      <p:sp>
        <p:nvSpPr>
          <p:cNvPr id="7" name="Arch modules"/>
          <p:cNvSpPr/>
          <p:nvPr/>
        </p:nvSpPr>
        <p:spPr>
          <a:xfrm>
            <a:off x="1143000" y="5212080"/>
            <a:ext cx="4663440" cy="86868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AI Advisor · Quiz · Planner</a:t>
            </a:r>
          </a:p>
        </p:txBody>
      </p:sp>
      <p:sp>
        <p:nvSpPr>
          <p:cNvPr id="8" name="Arch profile"/>
          <p:cNvSpPr/>
          <p:nvPr/>
        </p:nvSpPr>
        <p:spPr>
          <a:xfrm>
            <a:off x="6309360" y="5212080"/>
            <a:ext cx="4663440" cy="86868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6F1E6"/>
                </a:solidFill>
                <a:latin typeface="Arial"/>
              </a:rPr>
              <a:t>Student Profile &amp; Progress (SQLite)</a:t>
            </a:r>
          </a:p>
        </p:txBody>
      </p:sp>
      <p:sp>
        <p:nvSpPr>
          <p:cNvPr id="9" name="Arch langgraph"/>
          <p:cNvSpPr/>
          <p:nvPr/>
        </p:nvSpPr>
        <p:spPr>
          <a:xfrm>
            <a:off x="3589020" y="6675120"/>
            <a:ext cx="4937760" cy="86868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LangGraph Workflows</a:t>
            </a:r>
          </a:p>
        </p:txBody>
      </p:sp>
      <p:sp>
        <p:nvSpPr>
          <p:cNvPr id="10" name="Arch retrieval"/>
          <p:cNvSpPr/>
          <p:nvPr/>
        </p:nvSpPr>
        <p:spPr>
          <a:xfrm>
            <a:off x="1143000" y="8138160"/>
            <a:ext cx="4663440" cy="86868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A1F5C"/>
                </a:solidFill>
                <a:latin typeface="Arial"/>
              </a:rPr>
              <a:t>Local TF-IDF Retrieval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3A1F5C"/>
                </a:solidFill>
                <a:latin typeface="Arial"/>
              </a:rPr>
              <a:t>PDF / TXT / Markdown</a:t>
            </a:r>
          </a:p>
        </p:txBody>
      </p:sp>
      <p:sp>
        <p:nvSpPr>
          <p:cNvPr id="11" name="Arch groq"/>
          <p:cNvSpPr/>
          <p:nvPr/>
        </p:nvSpPr>
        <p:spPr>
          <a:xfrm>
            <a:off x="6309360" y="8138160"/>
            <a:ext cx="4663440" cy="86868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A1F5C"/>
                </a:solidFill>
                <a:latin typeface="Arial"/>
              </a:rPr>
              <a:t>Groq LLM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3A1F5C"/>
                </a:solidFill>
                <a:latin typeface="Arial"/>
              </a:rPr>
              <a:t>generation · planning · critic</a:t>
            </a:r>
          </a:p>
        </p:txBody>
      </p:sp>
      <p:cxnSp>
        <p:nvCxnSpPr>
          <p:cNvPr id="12" name="Arch arrow A1"/>
          <p:cNvCxnSpPr/>
          <p:nvPr/>
        </p:nvCxnSpPr>
        <p:spPr>
          <a:xfrm>
            <a:off x="6057900" y="3154680"/>
            <a:ext cx="0" cy="594359"/>
          </a:xfrm>
          <a:prstGeom prst="line">
            <a:avLst/>
          </a:prstGeom>
          <a:ln w="31750">
            <a:solidFill>
              <a:srgbClr val="6E4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ch arrow A2"/>
          <p:cNvCxnSpPr/>
          <p:nvPr/>
        </p:nvCxnSpPr>
        <p:spPr>
          <a:xfrm flipH="1">
            <a:off x="3474720" y="4617720"/>
            <a:ext cx="2583180" cy="594360"/>
          </a:xfrm>
          <a:prstGeom prst="line">
            <a:avLst/>
          </a:prstGeom>
          <a:ln w="31750">
            <a:solidFill>
              <a:srgbClr val="6E4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ch arrow A3"/>
          <p:cNvCxnSpPr/>
          <p:nvPr/>
        </p:nvCxnSpPr>
        <p:spPr>
          <a:xfrm>
            <a:off x="6057900" y="4617720"/>
            <a:ext cx="2583180" cy="594360"/>
          </a:xfrm>
          <a:prstGeom prst="line">
            <a:avLst/>
          </a:prstGeom>
          <a:ln w="31750">
            <a:solidFill>
              <a:srgbClr val="6E4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ch arrow A4"/>
          <p:cNvCxnSpPr/>
          <p:nvPr/>
        </p:nvCxnSpPr>
        <p:spPr>
          <a:xfrm>
            <a:off x="3474720" y="6080760"/>
            <a:ext cx="2583180" cy="594360"/>
          </a:xfrm>
          <a:prstGeom prst="line">
            <a:avLst/>
          </a:prstGeom>
          <a:ln w="31750">
            <a:solidFill>
              <a:srgbClr val="6E4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ch arrow A5"/>
          <p:cNvCxnSpPr/>
          <p:nvPr/>
        </p:nvCxnSpPr>
        <p:spPr>
          <a:xfrm flipH="1">
            <a:off x="6057900" y="6080760"/>
            <a:ext cx="2583180" cy="594360"/>
          </a:xfrm>
          <a:prstGeom prst="line">
            <a:avLst/>
          </a:prstGeom>
          <a:ln w="31750">
            <a:solidFill>
              <a:srgbClr val="6E4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ch arrow A6"/>
          <p:cNvCxnSpPr/>
          <p:nvPr/>
        </p:nvCxnSpPr>
        <p:spPr>
          <a:xfrm flipH="1">
            <a:off x="3474720" y="7543800"/>
            <a:ext cx="2583180" cy="594360"/>
          </a:xfrm>
          <a:prstGeom prst="line">
            <a:avLst/>
          </a:prstGeom>
          <a:ln w="31750">
            <a:solidFill>
              <a:srgbClr val="6E4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ch arrow A7"/>
          <p:cNvCxnSpPr/>
          <p:nvPr/>
        </p:nvCxnSpPr>
        <p:spPr>
          <a:xfrm>
            <a:off x="6057900" y="7543800"/>
            <a:ext cx="2583180" cy="594360"/>
          </a:xfrm>
          <a:prstGeom prst="line">
            <a:avLst/>
          </a:prstGeom>
          <a:ln w="31750">
            <a:solidFill>
              <a:srgbClr val="6E4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rch notes"/>
          <p:cNvSpPr/>
          <p:nvPr/>
        </p:nvSpPr>
        <p:spPr>
          <a:xfrm>
            <a:off x="11521440" y="2286000"/>
            <a:ext cx="5623560" cy="67208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How it fits together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Streamlit shell (app.py) collects questions, files and preferences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LangGraph coordinates the advisor and quiz workflows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Retrieval and storage stay local; Groq handles generation, planning and critique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Works without an API key for non-AI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Key Features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6</a:t>
            </a:r>
          </a:p>
        </p:txBody>
      </p:sp>
      <p:sp>
        <p:nvSpPr>
          <p:cNvPr id="5" name="Feature card 1"/>
          <p:cNvSpPr/>
          <p:nvPr/>
        </p:nvSpPr>
        <p:spPr>
          <a:xfrm>
            <a:off x="1143000" y="22860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AI Advisor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Groq-powered tutor with bounded history and retrieved excerpts</a:t>
            </a:r>
          </a:p>
        </p:txBody>
      </p:sp>
      <p:sp>
        <p:nvSpPr>
          <p:cNvPr id="6" name="Feature card 2"/>
          <p:cNvSpPr/>
          <p:nvPr/>
        </p:nvSpPr>
        <p:spPr>
          <a:xfrm>
            <a:off x="5230368" y="22860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Course Material Retrieval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PDF, TXT and Markdown chunked and ranked with TF-IDF</a:t>
            </a:r>
          </a:p>
        </p:txBody>
      </p:sp>
      <p:sp>
        <p:nvSpPr>
          <p:cNvPr id="7" name="Feature card 3"/>
          <p:cNvSpPr/>
          <p:nvPr/>
        </p:nvSpPr>
        <p:spPr>
          <a:xfrm>
            <a:off x="9317736" y="22860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Agentic Query Planning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Up to three alternate lexical queries in agentic mode</a:t>
            </a:r>
          </a:p>
        </p:txBody>
      </p:sp>
      <p:sp>
        <p:nvSpPr>
          <p:cNvPr id="8" name="Feature card 4"/>
          <p:cNvSpPr/>
          <p:nvPr/>
        </p:nvSpPr>
        <p:spPr>
          <a:xfrm>
            <a:off x="13405104" y="22860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Answer Critic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Second LLM step checks the draft against excerpts and can revise it</a:t>
            </a:r>
          </a:p>
        </p:txBody>
      </p:sp>
      <p:sp>
        <p:nvSpPr>
          <p:cNvPr id="9" name="Feature card 5"/>
          <p:cNvSpPr/>
          <p:nvPr/>
        </p:nvSpPr>
        <p:spPr>
          <a:xfrm>
            <a:off x="1143000" y="59436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Student Memory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SQLite stores profile, preferences, memory, progress, focus topics</a:t>
            </a:r>
          </a:p>
        </p:txBody>
      </p:sp>
      <p:sp>
        <p:nvSpPr>
          <p:cNvPr id="10" name="Feature card 6"/>
          <p:cNvSpPr/>
          <p:nvPr/>
        </p:nvSpPr>
        <p:spPr>
          <a:xfrm>
            <a:off x="5230368" y="59436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Study Planner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Local weekly drafts that need explicit approval before saving</a:t>
            </a:r>
          </a:p>
        </p:txBody>
      </p:sp>
      <p:sp>
        <p:nvSpPr>
          <p:cNvPr id="11" name="Feature card 7"/>
          <p:cNvSpPr/>
          <p:nvPr/>
        </p:nvSpPr>
        <p:spPr>
          <a:xfrm>
            <a:off x="9317736" y="59436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Quiz Generator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3–10 MCQs with validated structured output</a:t>
            </a:r>
          </a:p>
        </p:txBody>
      </p:sp>
      <p:sp>
        <p:nvSpPr>
          <p:cNvPr id="12" name="Feature card 8"/>
          <p:cNvSpPr/>
          <p:nvPr/>
        </p:nvSpPr>
        <p:spPr>
          <a:xfrm>
            <a:off x="13405104" y="5943600"/>
            <a:ext cx="3749039" cy="33375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Evaluation Harness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Compares no RAG, basic RAG and agentic RAG on a synthetic fixture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Agentic Advisor Workflow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7</a:t>
            </a:r>
          </a:p>
        </p:txBody>
      </p:sp>
      <p:sp>
        <p:nvSpPr>
          <p:cNvPr id="5" name="Step 1"/>
          <p:cNvSpPr/>
          <p:nvPr/>
        </p:nvSpPr>
        <p:spPr>
          <a:xfrm>
            <a:off x="1143000" y="23774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Question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Arial"/>
              </a:rPr>
              <a:t>student input</a:t>
            </a:r>
          </a:p>
        </p:txBody>
      </p:sp>
      <p:sp>
        <p:nvSpPr>
          <p:cNvPr id="6" name="Step arrow 1"/>
          <p:cNvSpPr/>
          <p:nvPr/>
        </p:nvSpPr>
        <p:spPr>
          <a:xfrm>
            <a:off x="3493008" y="30998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ep 2"/>
          <p:cNvSpPr/>
          <p:nvPr/>
        </p:nvSpPr>
        <p:spPr>
          <a:xfrm>
            <a:off x="3886200" y="23774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Plan Searches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Arial"/>
              </a:rPr>
              <a:t>up to 3 alternate queries</a:t>
            </a:r>
          </a:p>
        </p:txBody>
      </p:sp>
      <p:sp>
        <p:nvSpPr>
          <p:cNvPr id="8" name="Step arrow 2"/>
          <p:cNvSpPr/>
          <p:nvPr/>
        </p:nvSpPr>
        <p:spPr>
          <a:xfrm>
            <a:off x="6236208" y="30998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 3"/>
          <p:cNvSpPr/>
          <p:nvPr/>
        </p:nvSpPr>
        <p:spPr>
          <a:xfrm>
            <a:off x="6629400" y="23774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Retrieve Chunks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Arial"/>
              </a:rPr>
              <a:t>local TF-IDF top 4</a:t>
            </a:r>
          </a:p>
        </p:txBody>
      </p:sp>
      <p:sp>
        <p:nvSpPr>
          <p:cNvPr id="10" name="Step arrow 3"/>
          <p:cNvSpPr/>
          <p:nvPr/>
        </p:nvSpPr>
        <p:spPr>
          <a:xfrm>
            <a:off x="8979408" y="30998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ep 4"/>
          <p:cNvSpPr/>
          <p:nvPr/>
        </p:nvSpPr>
        <p:spPr>
          <a:xfrm>
            <a:off x="9372600" y="23774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Draft Answer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Arial"/>
              </a:rPr>
              <a:t>history + context + excerpts</a:t>
            </a:r>
          </a:p>
        </p:txBody>
      </p:sp>
      <p:sp>
        <p:nvSpPr>
          <p:cNvPr id="12" name="Step arrow 4"/>
          <p:cNvSpPr/>
          <p:nvPr/>
        </p:nvSpPr>
        <p:spPr>
          <a:xfrm>
            <a:off x="11722608" y="30998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 5"/>
          <p:cNvSpPr/>
          <p:nvPr/>
        </p:nvSpPr>
        <p:spPr>
          <a:xfrm>
            <a:off x="12115800" y="23774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Critique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Arial"/>
              </a:rPr>
              <a:t>agentic mode only</a:t>
            </a:r>
          </a:p>
        </p:txBody>
      </p:sp>
      <p:sp>
        <p:nvSpPr>
          <p:cNvPr id="14" name="Step arrow 5"/>
          <p:cNvSpPr/>
          <p:nvPr/>
        </p:nvSpPr>
        <p:spPr>
          <a:xfrm>
            <a:off x="14465808" y="30998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6"/>
          <p:cNvSpPr/>
          <p:nvPr/>
        </p:nvSpPr>
        <p:spPr>
          <a:xfrm>
            <a:off x="14859000" y="23774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Final Response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Arial"/>
              </a:rPr>
              <a:t>with sources</a:t>
            </a:r>
          </a:p>
        </p:txBody>
      </p:sp>
      <p:sp>
        <p:nvSpPr>
          <p:cNvPr id="16" name="Basic mode card"/>
          <p:cNvSpPr/>
          <p:nvPr/>
        </p:nvSpPr>
        <p:spPr>
          <a:xfrm>
            <a:off x="1143000" y="4754880"/>
            <a:ext cx="7818120" cy="256032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3A1F5C"/>
                </a:solidFill>
                <a:latin typeface="Arial"/>
              </a:rPr>
              <a:t>Basic retrieval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3A1F5C"/>
                </a:solidFill>
                <a:latin typeface="Arial"/>
              </a:rPr>
              <a:t>Question is the only search query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3A1F5C"/>
                </a:solidFill>
                <a:latin typeface="Arial"/>
              </a:rPr>
              <a:t>Draft answer → Final response</a:t>
            </a:r>
          </a:p>
        </p:txBody>
      </p:sp>
      <p:sp>
        <p:nvSpPr>
          <p:cNvPr id="17" name="Agentic mode card"/>
          <p:cNvSpPr/>
          <p:nvPr/>
        </p:nvSpPr>
        <p:spPr>
          <a:xfrm>
            <a:off x="9326880" y="4754880"/>
            <a:ext cx="7818120" cy="256032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Agentic retrieval + critic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Original question + up to 3 planned queries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Draft → Critique → supported / revised / insufficient</a:t>
            </a:r>
          </a:p>
        </p:txBody>
      </p:sp>
      <p:sp>
        <p:nvSpPr>
          <p:cNvPr id="18" name="Graph nodes banner"/>
          <p:cNvSpPr/>
          <p:nvPr/>
        </p:nvSpPr>
        <p:spPr>
          <a:xfrm>
            <a:off x="1143000" y="7680960"/>
            <a:ext cx="16002000" cy="137160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LangGraph nodes: plan_searches → retrieve_materials → draft_answer → critique_answer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A conditional edge routes to the critic only in agentic mode when evidence was retrieved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Agentic RAG Retrieval Pipeline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8</a:t>
            </a:r>
          </a:p>
        </p:txBody>
      </p:sp>
      <p:sp>
        <p:nvSpPr>
          <p:cNvPr id="5" name="Pipeline step 1"/>
          <p:cNvSpPr/>
          <p:nvPr/>
        </p:nvSpPr>
        <p:spPr>
          <a:xfrm>
            <a:off x="1143000" y="2286000"/>
            <a:ext cx="2286000" cy="155448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Upload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PDF / TXT / MD</a:t>
            </a:r>
          </a:p>
        </p:txBody>
      </p:sp>
      <p:sp>
        <p:nvSpPr>
          <p:cNvPr id="6" name="Pipeline arrow 1"/>
          <p:cNvSpPr/>
          <p:nvPr/>
        </p:nvSpPr>
        <p:spPr>
          <a:xfrm>
            <a:off x="3493008" y="28712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peline step 2"/>
          <p:cNvSpPr/>
          <p:nvPr/>
        </p:nvSpPr>
        <p:spPr>
          <a:xfrm>
            <a:off x="3886200" y="2286000"/>
            <a:ext cx="2286000" cy="155448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Extract text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pypdf, page by page</a:t>
            </a:r>
          </a:p>
        </p:txBody>
      </p:sp>
      <p:sp>
        <p:nvSpPr>
          <p:cNvPr id="8" name="Pipeline arrow 2"/>
          <p:cNvSpPr/>
          <p:nvPr/>
        </p:nvSpPr>
        <p:spPr>
          <a:xfrm>
            <a:off x="6236208" y="28712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peline step 3"/>
          <p:cNvSpPr/>
          <p:nvPr/>
        </p:nvSpPr>
        <p:spPr>
          <a:xfrm>
            <a:off x="6629400" y="2286000"/>
            <a:ext cx="2286000" cy="155448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Chunk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900 / 120 chars</a:t>
            </a:r>
          </a:p>
        </p:txBody>
      </p:sp>
      <p:sp>
        <p:nvSpPr>
          <p:cNvPr id="10" name="Pipeline arrow 3"/>
          <p:cNvSpPr/>
          <p:nvPr/>
        </p:nvSpPr>
        <p:spPr>
          <a:xfrm>
            <a:off x="8979408" y="28712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peline step 4"/>
          <p:cNvSpPr/>
          <p:nvPr/>
        </p:nvSpPr>
        <p:spPr>
          <a:xfrm>
            <a:off x="9372600" y="2286000"/>
            <a:ext cx="2286000" cy="155448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TF-IDF index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in memory</a:t>
            </a:r>
          </a:p>
        </p:txBody>
      </p:sp>
      <p:sp>
        <p:nvSpPr>
          <p:cNvPr id="12" name="Pipeline arrow 4"/>
          <p:cNvSpPr/>
          <p:nvPr/>
        </p:nvSpPr>
        <p:spPr>
          <a:xfrm>
            <a:off x="11722608" y="28712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peline step 5"/>
          <p:cNvSpPr/>
          <p:nvPr/>
        </p:nvSpPr>
        <p:spPr>
          <a:xfrm>
            <a:off x="12115800" y="2286000"/>
            <a:ext cx="2286000" cy="155448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Top-4 retrieval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score ≥ 0.12</a:t>
            </a:r>
          </a:p>
        </p:txBody>
      </p:sp>
      <p:sp>
        <p:nvSpPr>
          <p:cNvPr id="14" name="Pipeline arrow 5"/>
          <p:cNvSpPr/>
          <p:nvPr/>
        </p:nvSpPr>
        <p:spPr>
          <a:xfrm>
            <a:off x="14465808" y="2871216"/>
            <a:ext cx="329184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peline step 6"/>
          <p:cNvSpPr/>
          <p:nvPr/>
        </p:nvSpPr>
        <p:spPr>
          <a:xfrm>
            <a:off x="14859000" y="2286000"/>
            <a:ext cx="2286000" cy="155448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Groq context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with source ids</a:t>
            </a:r>
          </a:p>
        </p:txBody>
      </p:sp>
      <p:sp>
        <p:nvSpPr>
          <p:cNvPr id="16" name="Stat card 1"/>
          <p:cNvSpPr/>
          <p:nvPr/>
        </p:nvSpPr>
        <p:spPr>
          <a:xfrm>
            <a:off x="1143000" y="420624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3A1F5C"/>
                </a:solidFill>
                <a:latin typeface="Arial"/>
              </a:rPr>
              <a:t>900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D5661"/>
                </a:solidFill>
                <a:latin typeface="Arial"/>
              </a:rPr>
              <a:t>characters per chunk</a:t>
            </a:r>
          </a:p>
        </p:txBody>
      </p:sp>
      <p:sp>
        <p:nvSpPr>
          <p:cNvPr id="17" name="Stat card 2"/>
          <p:cNvSpPr/>
          <p:nvPr/>
        </p:nvSpPr>
        <p:spPr>
          <a:xfrm>
            <a:off x="5230368" y="420624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3A1F5C"/>
                </a:solidFill>
                <a:latin typeface="Arial"/>
              </a:rPr>
              <a:t>120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D5661"/>
                </a:solidFill>
                <a:latin typeface="Arial"/>
              </a:rPr>
              <a:t>characters of overlap</a:t>
            </a:r>
          </a:p>
        </p:txBody>
      </p:sp>
      <p:sp>
        <p:nvSpPr>
          <p:cNvPr id="18" name="Stat card 3"/>
          <p:cNvSpPr/>
          <p:nvPr/>
        </p:nvSpPr>
        <p:spPr>
          <a:xfrm>
            <a:off x="9317736" y="420624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3A1F5C"/>
                </a:solidFill>
                <a:latin typeface="Arial"/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D5661"/>
                </a:solidFill>
                <a:latin typeface="Arial"/>
              </a:rPr>
              <a:t>top results returned</a:t>
            </a:r>
          </a:p>
        </p:txBody>
      </p:sp>
      <p:sp>
        <p:nvSpPr>
          <p:cNvPr id="19" name="Stat card 4"/>
          <p:cNvSpPr/>
          <p:nvPr/>
        </p:nvSpPr>
        <p:spPr>
          <a:xfrm>
            <a:off x="13405104" y="420624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3A1F5C"/>
                </a:solidFill>
                <a:latin typeface="Arial"/>
              </a:rPr>
              <a:t>0.12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D5661"/>
                </a:solidFill>
                <a:latin typeface="Arial"/>
              </a:rPr>
              <a:t>minimum cosine score</a:t>
            </a:r>
          </a:p>
        </p:txBody>
      </p:sp>
      <p:sp>
        <p:nvSpPr>
          <p:cNvPr id="20" name="Design choices card"/>
          <p:cNvSpPr/>
          <p:nvPr/>
        </p:nvSpPr>
        <p:spPr>
          <a:xfrm>
            <a:off x="1143000" y="6583680"/>
            <a:ext cx="7818120" cy="26060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Design choices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Lexical, local and transparent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No embedding model, no vector DB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Results deduplicated; best score kept</a:t>
            </a:r>
          </a:p>
        </p:txBody>
      </p:sp>
      <p:sp>
        <p:nvSpPr>
          <p:cNvPr id="21" name="Upload limits card"/>
          <p:cNvSpPr/>
          <p:nvPr/>
        </p:nvSpPr>
        <p:spPr>
          <a:xfrm>
            <a:off x="9326880" y="6583680"/>
            <a:ext cx="7818120" cy="260604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Upload limits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8 MB per file · 40 MB per session · 20 files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Scanned PDFs need OCR (not included)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Agent Components &amp; Orchestration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9</a:t>
            </a:r>
          </a:p>
        </p:txBody>
      </p:sp>
      <p:graphicFrame>
        <p:nvGraphicFramePr>
          <p:cNvPr id="5" name="Components table"/>
          <p:cNvGraphicFramePr>
            <a:graphicFrameLocks noGrp="1"/>
          </p:cNvGraphicFramePr>
          <p:nvPr/>
        </p:nvGraphicFramePr>
        <p:xfrm>
          <a:off x="1143000" y="2286000"/>
          <a:ext cx="16002000" cy="5266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/>
                <a:gridCol w="1216152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6F1E6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anchor="ctr" marL="164592" marR="164592" marT="45720" marB="45720">
                    <a:solidFill>
                      <a:srgbClr val="3A1F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6F1E6"/>
                          </a:solidFill>
                          <a:latin typeface="Arial"/>
                        </a:rPr>
                        <a:t>Responsibility</a:t>
                      </a:r>
                    </a:p>
                  </a:txBody>
                  <a:tcPr anchor="ctr" marL="164592" marR="164592" marT="45720" marB="45720">
                    <a:solidFill>
                      <a:srgbClr val="3A1F5C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Advisor Workflow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Coordinates planning, retrieval, drafting and optional critique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Query Planner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Groq proposes up to three alternate lexical search queries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Retriever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Local TF-IDF + cosine ranking of chunks; no LLM calls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Draft Generator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Answers using history, student context and retrieved excerpts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Answer Critic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Checks grounding: supported, revised or insufficient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Quiz Workflow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Retrieves topic chunks; generates validated MCQs (3–10)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Planner Module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Local weekly draft from progress and focus topics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SQLite Storage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Persists profile, memory, progress and approved plans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</a:tr>
            </a:tbl>
          </a:graphicData>
        </a:graphic>
      </p:graphicFrame>
      <p:sp>
        <p:nvSpPr>
          <p:cNvPr id="6" name="Coordination banner"/>
          <p:cNvSpPr/>
          <p:nvPr/>
        </p:nvSpPr>
        <p:spPr>
          <a:xfrm>
            <a:off x="1143000" y="7772400"/>
            <a:ext cx="16002000" cy="141732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Deterministic graph transitions, not free-form agent chat: the planner never answers, the retriever never calls the LLM, the critic never searches.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Memory, State &amp; Personalization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10</a:t>
            </a:r>
          </a:p>
        </p:txBody>
      </p:sp>
      <p:sp>
        <p:nvSpPr>
          <p:cNvPr id="5" name="Session state card"/>
          <p:cNvSpPr/>
          <p:nvPr/>
        </p:nvSpPr>
        <p:spPr>
          <a:xfrm>
            <a:off x="1143000" y="2286000"/>
            <a:ext cx="7818120" cy="40233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Session state (Streamlit)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Uploaded materials and their chunks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Advisor conversation history (latest 20 messages sent)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Current study-plan draft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Quiz attempts — session only</a:t>
            </a:r>
          </a:p>
        </p:txBody>
      </p:sp>
      <p:sp>
        <p:nvSpPr>
          <p:cNvPr id="6" name="Persistent state card"/>
          <p:cNvSpPr/>
          <p:nvPr/>
        </p:nvSpPr>
        <p:spPr>
          <a:xfrm>
            <a:off x="9326880" y="2286000"/>
            <a:ext cx="7818120" cy="40233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Persistent state (SQLite)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Student profile: name, program, term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Learning preferences and advisor memory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Subject progress and focus topics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Approved study plans</a:t>
            </a:r>
          </a:p>
        </p:txBody>
      </p:sp>
      <p:sp>
        <p:nvSpPr>
          <p:cNvPr id="7" name="Flow context"/>
          <p:cNvSpPr/>
          <p:nvPr/>
        </p:nvSpPr>
        <p:spPr>
          <a:xfrm>
            <a:off x="1143000" y="6858000"/>
            <a:ext cx="4572000" cy="210312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3A1F5C"/>
                </a:solidFill>
                <a:latin typeface="Arial"/>
              </a:rPr>
              <a:t>Student context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3A1F5C"/>
                </a:solidFill>
                <a:latin typeface="Arial"/>
              </a:rPr>
              <a:t>program · term · preferences · memory · progress</a:t>
            </a:r>
          </a:p>
        </p:txBody>
      </p:sp>
      <p:sp>
        <p:nvSpPr>
          <p:cNvPr id="8" name="Flow arrow 1"/>
          <p:cNvSpPr/>
          <p:nvPr/>
        </p:nvSpPr>
        <p:spPr>
          <a:xfrm>
            <a:off x="5852160" y="7635240"/>
            <a:ext cx="457200" cy="548640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store"/>
          <p:cNvSpPr/>
          <p:nvPr/>
        </p:nvSpPr>
        <p:spPr>
          <a:xfrm>
            <a:off x="6446520" y="6858000"/>
            <a:ext cx="4572000" cy="210312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SQLite store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Arial"/>
              </a:rPr>
              <a:t>local persistence</a:t>
            </a:r>
          </a:p>
        </p:txBody>
      </p:sp>
      <p:sp>
        <p:nvSpPr>
          <p:cNvPr id="10" name="Flow arrow 2"/>
          <p:cNvSpPr/>
          <p:nvPr/>
        </p:nvSpPr>
        <p:spPr>
          <a:xfrm>
            <a:off x="11155680" y="7635240"/>
            <a:ext cx="457200" cy="548640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ow groq"/>
          <p:cNvSpPr/>
          <p:nvPr/>
        </p:nvSpPr>
        <p:spPr>
          <a:xfrm>
            <a:off x="11750040" y="685800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Groq advisor prompt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Arial"/>
              </a:rPr>
              <a:t>compact personalization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Quiz Generation &amp; Study Planner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11</a:t>
            </a:r>
          </a:p>
        </p:txBody>
      </p:sp>
      <p:sp>
        <p:nvSpPr>
          <p:cNvPr id="5" name="Quiz label"/>
          <p:cNvSpPr/>
          <p:nvPr/>
        </p:nvSpPr>
        <p:spPr>
          <a:xfrm>
            <a:off x="1143000" y="2286000"/>
            <a:ext cx="3291840" cy="23774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Quiz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DAF3"/>
                </a:solidFill>
                <a:latin typeface="Arial"/>
              </a:rPr>
              <a:t>3–10 MCQs per topic</a:t>
            </a:r>
          </a:p>
        </p:txBody>
      </p:sp>
      <p:sp>
        <p:nvSpPr>
          <p:cNvPr id="6" name="Quiz step 1"/>
          <p:cNvSpPr/>
          <p:nvPr/>
        </p:nvSpPr>
        <p:spPr>
          <a:xfrm>
            <a:off x="4754880" y="22860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Topic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chosen by student</a:t>
            </a:r>
          </a:p>
        </p:txBody>
      </p:sp>
      <p:sp>
        <p:nvSpPr>
          <p:cNvPr id="7" name="Quiz arrow 1"/>
          <p:cNvSpPr/>
          <p:nvPr/>
        </p:nvSpPr>
        <p:spPr>
          <a:xfrm>
            <a:off x="6940296" y="3282696"/>
            <a:ext cx="338328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iz step 2"/>
          <p:cNvSpPr/>
          <p:nvPr/>
        </p:nvSpPr>
        <p:spPr>
          <a:xfrm>
            <a:off x="7315200" y="22860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Retrieve notes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topic chunks</a:t>
            </a:r>
          </a:p>
        </p:txBody>
      </p:sp>
      <p:sp>
        <p:nvSpPr>
          <p:cNvPr id="9" name="Quiz arrow 2"/>
          <p:cNvSpPr/>
          <p:nvPr/>
        </p:nvSpPr>
        <p:spPr>
          <a:xfrm>
            <a:off x="9500615" y="3282696"/>
            <a:ext cx="338328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Quiz step 3"/>
          <p:cNvSpPr/>
          <p:nvPr/>
        </p:nvSpPr>
        <p:spPr>
          <a:xfrm>
            <a:off x="9875520" y="22860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Generate MCQs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Groq</a:t>
            </a:r>
          </a:p>
        </p:txBody>
      </p:sp>
      <p:sp>
        <p:nvSpPr>
          <p:cNvPr id="11" name="Quiz arrow 3"/>
          <p:cNvSpPr/>
          <p:nvPr/>
        </p:nvSpPr>
        <p:spPr>
          <a:xfrm>
            <a:off x="12060936" y="3282696"/>
            <a:ext cx="338328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uiz step 4"/>
          <p:cNvSpPr/>
          <p:nvPr/>
        </p:nvSpPr>
        <p:spPr>
          <a:xfrm>
            <a:off x="12435840" y="22860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Validate JSON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structure check</a:t>
            </a:r>
          </a:p>
        </p:txBody>
      </p:sp>
      <p:sp>
        <p:nvSpPr>
          <p:cNvPr id="13" name="Quiz arrow 4"/>
          <p:cNvSpPr/>
          <p:nvPr/>
        </p:nvSpPr>
        <p:spPr>
          <a:xfrm>
            <a:off x="14621256" y="3282696"/>
            <a:ext cx="338328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iz step 5"/>
          <p:cNvSpPr/>
          <p:nvPr/>
        </p:nvSpPr>
        <p:spPr>
          <a:xfrm>
            <a:off x="14996160" y="22860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3A1F5C"/>
                </a:solidFill>
                <a:latin typeface="Arial"/>
              </a:rPr>
              <a:t>Score locally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3A1F5C"/>
                </a:solidFill>
                <a:latin typeface="Arial"/>
              </a:rPr>
              <a:t>not sent to model</a:t>
            </a:r>
          </a:p>
        </p:txBody>
      </p:sp>
      <p:sp>
        <p:nvSpPr>
          <p:cNvPr id="15" name="Planner label"/>
          <p:cNvSpPr/>
          <p:nvPr/>
        </p:nvSpPr>
        <p:spPr>
          <a:xfrm>
            <a:off x="1143000" y="5029200"/>
            <a:ext cx="3291840" cy="23774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Study Planner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DAF3"/>
                </a:solidFill>
                <a:latin typeface="Arial"/>
              </a:rPr>
              <a:t>human approval required</a:t>
            </a:r>
          </a:p>
        </p:txBody>
      </p:sp>
      <p:sp>
        <p:nvSpPr>
          <p:cNvPr id="16" name="Planner step 1"/>
          <p:cNvSpPr/>
          <p:nvPr/>
        </p:nvSpPr>
        <p:spPr>
          <a:xfrm>
            <a:off x="4754880" y="50292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Profile + focus topics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from SQLite</a:t>
            </a:r>
          </a:p>
        </p:txBody>
      </p:sp>
      <p:sp>
        <p:nvSpPr>
          <p:cNvPr id="17" name="Planner arrow 1"/>
          <p:cNvSpPr/>
          <p:nvPr/>
        </p:nvSpPr>
        <p:spPr>
          <a:xfrm>
            <a:off x="6940296" y="6025896"/>
            <a:ext cx="338328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lanner step 2"/>
          <p:cNvSpPr/>
          <p:nvPr/>
        </p:nvSpPr>
        <p:spPr>
          <a:xfrm>
            <a:off x="7315200" y="50292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Draft weekly plan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local, not saved</a:t>
            </a:r>
          </a:p>
        </p:txBody>
      </p:sp>
      <p:sp>
        <p:nvSpPr>
          <p:cNvPr id="19" name="Planner arrow 2"/>
          <p:cNvSpPr/>
          <p:nvPr/>
        </p:nvSpPr>
        <p:spPr>
          <a:xfrm>
            <a:off x="9500615" y="6025896"/>
            <a:ext cx="338328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lanner step 3"/>
          <p:cNvSpPr/>
          <p:nvPr/>
        </p:nvSpPr>
        <p:spPr>
          <a:xfrm>
            <a:off x="9875520" y="50292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Student review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proposal only</a:t>
            </a:r>
          </a:p>
        </p:txBody>
      </p:sp>
      <p:sp>
        <p:nvSpPr>
          <p:cNvPr id="21" name="Planner arrow 3"/>
          <p:cNvSpPr/>
          <p:nvPr/>
        </p:nvSpPr>
        <p:spPr>
          <a:xfrm>
            <a:off x="12060936" y="6025896"/>
            <a:ext cx="338328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lanner step 4"/>
          <p:cNvSpPr/>
          <p:nvPr/>
        </p:nvSpPr>
        <p:spPr>
          <a:xfrm>
            <a:off x="12435840" y="50292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3A1F5C"/>
                </a:solidFill>
                <a:latin typeface="Arial"/>
              </a:rPr>
              <a:t>Approve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3A1F5C"/>
                </a:solidFill>
                <a:latin typeface="Arial"/>
              </a:rPr>
              <a:t>saved to SQLite</a:t>
            </a:r>
          </a:p>
        </p:txBody>
      </p:sp>
      <p:sp>
        <p:nvSpPr>
          <p:cNvPr id="23" name="Planner arrow 4"/>
          <p:cNvSpPr/>
          <p:nvPr/>
        </p:nvSpPr>
        <p:spPr>
          <a:xfrm>
            <a:off x="14621256" y="6025896"/>
            <a:ext cx="338328" cy="384048"/>
          </a:xfrm>
          <a:prstGeom prst="rightArrow">
            <a:avLst/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lanner step 5"/>
          <p:cNvSpPr/>
          <p:nvPr/>
        </p:nvSpPr>
        <p:spPr>
          <a:xfrm>
            <a:off x="14996160" y="5029200"/>
            <a:ext cx="2148840" cy="237744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3A1F5C"/>
                </a:solidFill>
                <a:latin typeface="Arial"/>
              </a:rPr>
              <a:t>Discard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3A1F5C"/>
                </a:solidFill>
                <a:latin typeface="Arial"/>
              </a:rPr>
              <a:t>draft dropped</a:t>
            </a:r>
          </a:p>
        </p:txBody>
      </p:sp>
      <p:sp>
        <p:nvSpPr>
          <p:cNvPr id="25" name="HITL banner"/>
          <p:cNvSpPr/>
          <p:nvPr/>
        </p:nvSpPr>
        <p:spPr>
          <a:xfrm>
            <a:off x="1143000" y="8001000"/>
            <a:ext cx="16002000" cy="114300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Human-in-the-loop: no AI-drafted plan becomes active without explicit approval.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Tools &amp; Technologies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12</a:t>
            </a:r>
          </a:p>
        </p:txBody>
      </p:sp>
      <p:sp>
        <p:nvSpPr>
          <p:cNvPr id="5" name="Tech card 1"/>
          <p:cNvSpPr/>
          <p:nvPr/>
        </p:nvSpPr>
        <p:spPr>
          <a:xfrm>
            <a:off x="1143000" y="228600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Python 3.10+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6F1E6"/>
                </a:solidFill>
                <a:latin typeface="Arial"/>
              </a:rPr>
              <a:t>Core application and supporting modules</a:t>
            </a:r>
          </a:p>
        </p:txBody>
      </p:sp>
      <p:sp>
        <p:nvSpPr>
          <p:cNvPr id="6" name="Tech card 2"/>
          <p:cNvSpPr/>
          <p:nvPr/>
        </p:nvSpPr>
        <p:spPr>
          <a:xfrm>
            <a:off x="6583679" y="228600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Streamlit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6F1E6"/>
                </a:solidFill>
                <a:latin typeface="Arial"/>
              </a:rPr>
              <a:t>Web interface: dashboard, chat, uploads, planner, quiz</a:t>
            </a:r>
          </a:p>
        </p:txBody>
      </p:sp>
      <p:sp>
        <p:nvSpPr>
          <p:cNvPr id="7" name="Tech card 3"/>
          <p:cNvSpPr/>
          <p:nvPr/>
        </p:nvSpPr>
        <p:spPr>
          <a:xfrm>
            <a:off x="12024359" y="228600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Groq API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6F1E6"/>
                </a:solidFill>
                <a:latin typeface="Arial"/>
              </a:rPr>
              <a:t>LLM generation, query planning, critique, quiz generation</a:t>
            </a:r>
          </a:p>
        </p:txBody>
      </p:sp>
      <p:sp>
        <p:nvSpPr>
          <p:cNvPr id="8" name="Tech card 4"/>
          <p:cNvSpPr/>
          <p:nvPr/>
        </p:nvSpPr>
        <p:spPr>
          <a:xfrm>
            <a:off x="1143000" y="470916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LangGraph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6F1E6"/>
                </a:solidFill>
                <a:latin typeface="Arial"/>
              </a:rPr>
              <a:t>StateGraph orchestration of advisor and quiz workflows</a:t>
            </a:r>
          </a:p>
        </p:txBody>
      </p:sp>
      <p:sp>
        <p:nvSpPr>
          <p:cNvPr id="9" name="Tech card 5"/>
          <p:cNvSpPr/>
          <p:nvPr/>
        </p:nvSpPr>
        <p:spPr>
          <a:xfrm>
            <a:off x="6583679" y="470916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pypdf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6F1E6"/>
                </a:solidFill>
                <a:latin typeface="Arial"/>
              </a:rPr>
              <a:t>Page-by-page text extraction from PDFs</a:t>
            </a:r>
          </a:p>
        </p:txBody>
      </p:sp>
      <p:sp>
        <p:nvSpPr>
          <p:cNvPr id="10" name="Tech card 6"/>
          <p:cNvSpPr/>
          <p:nvPr/>
        </p:nvSpPr>
        <p:spPr>
          <a:xfrm>
            <a:off x="12024359" y="470916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TF-IDF / Cosine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6F1E6"/>
                </a:solidFill>
                <a:latin typeface="Arial"/>
              </a:rPr>
              <a:t>Lightweight local lexical retrieval in Python</a:t>
            </a:r>
          </a:p>
        </p:txBody>
      </p:sp>
      <p:sp>
        <p:nvSpPr>
          <p:cNvPr id="11" name="Tech card 7"/>
          <p:cNvSpPr/>
          <p:nvPr/>
        </p:nvSpPr>
        <p:spPr>
          <a:xfrm>
            <a:off x="1143000" y="713232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SQLite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6F1E6"/>
                </a:solidFill>
                <a:latin typeface="Arial"/>
              </a:rPr>
              <a:t>Profile, progress, focus topics, memory, approved plans</a:t>
            </a:r>
          </a:p>
        </p:txBody>
      </p:sp>
      <p:sp>
        <p:nvSpPr>
          <p:cNvPr id="12" name="Tech card 8"/>
          <p:cNvSpPr/>
          <p:nvPr/>
        </p:nvSpPr>
        <p:spPr>
          <a:xfrm>
            <a:off x="6583679" y="713232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python-dotenv + JSON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6F1E6"/>
                </a:solidFill>
                <a:latin typeface="Arial"/>
              </a:rPr>
              <a:t>Environment config; structured LLM outputs and eval cases</a:t>
            </a:r>
          </a:p>
        </p:txBody>
      </p:sp>
      <p:sp>
        <p:nvSpPr>
          <p:cNvPr id="13" name="Tech card 9"/>
          <p:cNvSpPr/>
          <p:nvPr/>
        </p:nvSpPr>
        <p:spPr>
          <a:xfrm>
            <a:off x="12024359" y="713232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Docker + unittest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6F1E6"/>
                </a:solidFill>
                <a:latin typeface="Arial"/>
              </a:rPr>
              <a:t>Containerized deployment; automated test discovery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System Implementation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13</a:t>
            </a:r>
          </a:p>
        </p:txBody>
      </p:sp>
      <p:sp>
        <p:nvSpPr>
          <p:cNvPr id="5" name="Repo tree card"/>
          <p:cNvSpPr/>
          <p:nvPr/>
        </p:nvSpPr>
        <p:spPr>
          <a:xfrm>
            <a:off x="1143000" y="2286000"/>
            <a:ext cx="7223760" cy="69494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Repository structure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agenticAI/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├─ app.py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├─ studymate/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│  ├─ config.py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│  ├─ data.py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│  ├─ groq_client.py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│  ├─ materials.py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│  ├─ planner.py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│  ├─ quiz.py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│  ├─ storage.py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│  └─ workflows.py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├─ evaluations/cases.json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├─ scripts/evaluate.py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├─ tests/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├─ Dockerfile / compose.yaml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6F1E6"/>
                </a:solidFill>
                <a:latin typeface="Courier New"/>
              </a:rPr>
              <a:t>└─ requirements.txt</a:t>
            </a:r>
          </a:p>
        </p:txBody>
      </p:sp>
      <p:sp>
        <p:nvSpPr>
          <p:cNvPr id="6" name="Pages heading"/>
          <p:cNvSpPr txBox="1"/>
          <p:nvPr/>
        </p:nvSpPr>
        <p:spPr>
          <a:xfrm>
            <a:off x="8778240" y="2286000"/>
            <a:ext cx="83667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3A1F5C"/>
                </a:solidFill>
                <a:latin typeface="Arial"/>
              </a:rPr>
              <a:t>Streamlit pages</a:t>
            </a:r>
          </a:p>
        </p:txBody>
      </p:sp>
      <p:sp>
        <p:nvSpPr>
          <p:cNvPr id="7" name="Page chip 1"/>
          <p:cNvSpPr/>
          <p:nvPr/>
        </p:nvSpPr>
        <p:spPr>
          <a:xfrm>
            <a:off x="8778240" y="3017520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Dashboard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progress, streak, deadlines</a:t>
            </a:r>
          </a:p>
        </p:txBody>
      </p:sp>
      <p:sp>
        <p:nvSpPr>
          <p:cNvPr id="8" name="Page chip 2"/>
          <p:cNvSpPr/>
          <p:nvPr/>
        </p:nvSpPr>
        <p:spPr>
          <a:xfrm>
            <a:off x="11612880" y="3017520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AI Advisor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basic or agentic chat</a:t>
            </a:r>
          </a:p>
        </p:txBody>
      </p:sp>
      <p:sp>
        <p:nvSpPr>
          <p:cNvPr id="9" name="Page chip 3"/>
          <p:cNvSpPr/>
          <p:nvPr/>
        </p:nvSpPr>
        <p:spPr>
          <a:xfrm>
            <a:off x="14447520" y="3017520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Materials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upload and index notes</a:t>
            </a:r>
          </a:p>
        </p:txBody>
      </p:sp>
      <p:sp>
        <p:nvSpPr>
          <p:cNvPr id="10" name="Page chip 4"/>
          <p:cNvSpPr/>
          <p:nvPr/>
        </p:nvSpPr>
        <p:spPr>
          <a:xfrm>
            <a:off x="8778240" y="4709159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My Profile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preferences and progress</a:t>
            </a:r>
          </a:p>
        </p:txBody>
      </p:sp>
      <p:sp>
        <p:nvSpPr>
          <p:cNvPr id="11" name="Page chip 5"/>
          <p:cNvSpPr/>
          <p:nvPr/>
        </p:nvSpPr>
        <p:spPr>
          <a:xfrm>
            <a:off x="11612880" y="4709159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Study Planner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draft and approve</a:t>
            </a:r>
          </a:p>
        </p:txBody>
      </p:sp>
      <p:sp>
        <p:nvSpPr>
          <p:cNvPr id="12" name="Page chip 6"/>
          <p:cNvSpPr/>
          <p:nvPr/>
        </p:nvSpPr>
        <p:spPr>
          <a:xfrm>
            <a:off x="14447520" y="4709159"/>
            <a:ext cx="2697480" cy="15087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6F1E6"/>
                </a:solidFill>
                <a:latin typeface="Arial"/>
              </a:rPr>
              <a:t>Quiz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6F1E6"/>
                </a:solidFill>
                <a:latin typeface="Arial"/>
              </a:rPr>
              <a:t>generate and score</a:t>
            </a:r>
          </a:p>
        </p:txBody>
      </p:sp>
      <p:sp>
        <p:nvSpPr>
          <p:cNvPr id="13" name="Source code card"/>
          <p:cNvSpPr/>
          <p:nvPr/>
        </p:nvSpPr>
        <p:spPr>
          <a:xfrm>
            <a:off x="8778240" y="6583680"/>
            <a:ext cx="8366760" cy="265176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3A1F5C"/>
                </a:solidFill>
                <a:latin typeface="Arial"/>
              </a:rPr>
              <a:t>Source code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3A1F5C"/>
                </a:solidFill>
                <a:latin typeface="Arial"/>
              </a:rPr>
              <a:t>github.com/TarunAanand/agenticAI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3A1F5C"/>
                </a:solidFill>
                <a:latin typeface="Arial"/>
              </a:rPr>
              <a:t>App, studymate package, eval cases and scripts, tests, Docker setup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Evaluation Design &amp; Results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14</a:t>
            </a:r>
          </a:p>
        </p:txBody>
      </p:sp>
      <p:sp>
        <p:nvSpPr>
          <p:cNvPr id="5" name="Mode card 1"/>
          <p:cNvSpPr/>
          <p:nvPr/>
        </p:nvSpPr>
        <p:spPr>
          <a:xfrm>
            <a:off x="1143000" y="228600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6F1E6"/>
                </a:solidFill>
                <a:latin typeface="Arial"/>
              </a:rPr>
              <a:t>No RAG</a:t>
            </a:r>
          </a:p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6F1E6"/>
                </a:solidFill>
                <a:latin typeface="Arial"/>
              </a:rPr>
              <a:t>LLM answers without course notes</a:t>
            </a:r>
          </a:p>
        </p:txBody>
      </p:sp>
      <p:sp>
        <p:nvSpPr>
          <p:cNvPr id="6" name="Mode card 2"/>
          <p:cNvSpPr/>
          <p:nvPr/>
        </p:nvSpPr>
        <p:spPr>
          <a:xfrm>
            <a:off x="6583679" y="228600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6F1E6"/>
                </a:solidFill>
                <a:latin typeface="Arial"/>
              </a:rPr>
              <a:t>Basic RAG</a:t>
            </a:r>
          </a:p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6F1E6"/>
                </a:solidFill>
                <a:latin typeface="Arial"/>
              </a:rPr>
              <a:t>Local TF-IDF, single query</a:t>
            </a:r>
          </a:p>
        </p:txBody>
      </p:sp>
      <p:sp>
        <p:nvSpPr>
          <p:cNvPr id="7" name="Mode card 3"/>
          <p:cNvSpPr/>
          <p:nvPr/>
        </p:nvSpPr>
        <p:spPr>
          <a:xfrm>
            <a:off x="12024359" y="228600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6F1E6"/>
                </a:solidFill>
                <a:latin typeface="Arial"/>
              </a:rPr>
              <a:t>Agentic RAG</a:t>
            </a:r>
          </a:p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6F1E6"/>
                </a:solidFill>
                <a:latin typeface="Arial"/>
              </a:rPr>
              <a:t>Query planning + critic</a:t>
            </a:r>
          </a:p>
        </p:txBody>
      </p:sp>
      <p:sp>
        <p:nvSpPr>
          <p:cNvPr id="8" name="Fixture card"/>
          <p:cNvSpPr/>
          <p:nvPr/>
        </p:nvSpPr>
        <p:spPr>
          <a:xfrm>
            <a:off x="1143000" y="4389120"/>
            <a:ext cx="7818120" cy="3657600"/>
          </a:xfrm>
          <a:prstGeom prst="roundRect">
            <a:avLst>
              <a:gd name="adj" fmla="val 5000"/>
            </a:avLst>
          </a:prstGeom>
          <a:solidFill>
            <a:srgbClr val="E6D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3A1F5C"/>
                </a:solidFill>
                <a:latin typeface="Arial"/>
              </a:rPr>
              <a:t>Synthetic fixture (4 cases)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3A1F5C"/>
                </a:solidFill>
                <a:latin typeface="Arial"/>
              </a:rPr>
              <a:t>Stacks, photosynthesis, eigenvectors, database normalization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3A1F5C"/>
                </a:solidFill>
                <a:latin typeface="Arial"/>
              </a:rPr>
              <a:t>Each case: question, expected source, expected phrases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3A1F5C"/>
                </a:solidFill>
                <a:latin typeface="Arial"/>
              </a:rPr>
              <a:t>Dry-run (offline) and live Groq modes</a:t>
            </a:r>
          </a:p>
        </p:txBody>
      </p:sp>
      <p:sp>
        <p:nvSpPr>
          <p:cNvPr id="9" name="Metrics card"/>
          <p:cNvSpPr/>
          <p:nvPr/>
        </p:nvSpPr>
        <p:spPr>
          <a:xfrm>
            <a:off x="9326880" y="4389120"/>
            <a:ext cx="7818120" cy="365760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Metrics recorded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Latency · retrieval hit rate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Citation rate · expected-phrase recall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Human review for quality conclusions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Workflow correctness checks</a:t>
            </a:r>
          </a:p>
        </p:txBody>
      </p:sp>
      <p:sp>
        <p:nvSpPr>
          <p:cNvPr id="10" name="Evaluation honesty banner"/>
          <p:cNvSpPr/>
          <p:nvPr/>
        </p:nvSpPr>
        <p:spPr>
          <a:xfrm>
            <a:off x="1143000" y="8321040"/>
            <a:ext cx="16002000" cy="10058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6F1E6"/>
                </a:solidFill>
                <a:latin typeface="Arial"/>
              </a:rPr>
              <a:t>9 functional test scenarios implemented · quantitative RAG comparison pending a live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Comparison with Baselines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15</a:t>
            </a:r>
          </a:p>
        </p:txBody>
      </p:sp>
      <p:graphicFrame>
        <p:nvGraphicFramePr>
          <p:cNvPr id="5" name="Baseline table"/>
          <p:cNvGraphicFramePr>
            <a:graphicFrameLocks noGrp="1"/>
          </p:cNvGraphicFramePr>
          <p:nvPr/>
        </p:nvGraphicFramePr>
        <p:xfrm>
          <a:off x="1143000" y="2286000"/>
          <a:ext cx="16002000" cy="6583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66160"/>
                <a:gridCol w="3474720"/>
                <a:gridCol w="3474720"/>
                <a:gridCol w="54864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6F1E6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anchor="ctr" marL="164592" marR="164592" marT="45720" marB="45720">
                    <a:solidFill>
                      <a:srgbClr val="3A1F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6F1E6"/>
                          </a:solidFill>
                          <a:latin typeface="Arial"/>
                        </a:rPr>
                        <a:t>Generic LLM Chat</a:t>
                      </a:r>
                    </a:p>
                  </a:txBody>
                  <a:tcPr anchor="ctr" marL="164592" marR="164592" marT="45720" marB="45720">
                    <a:solidFill>
                      <a:srgbClr val="3A1F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6F1E6"/>
                          </a:solidFill>
                          <a:latin typeface="Arial"/>
                        </a:rPr>
                        <a:t>Basic Local RAG</a:t>
                      </a:r>
                    </a:p>
                  </a:txBody>
                  <a:tcPr anchor="ctr" marL="164592" marR="164592" marT="45720" marB="45720">
                    <a:solidFill>
                      <a:srgbClr val="3A1F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6F1E6"/>
                          </a:solidFill>
                          <a:latin typeface="Arial"/>
                        </a:rPr>
                        <a:t>StudyMate Agentic RAG</a:t>
                      </a:r>
                    </a:p>
                  </a:txBody>
                  <a:tcPr anchor="ctr" marL="164592" marR="164592" marT="45720" marB="45720">
                    <a:solidFill>
                      <a:srgbClr val="3A1F5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Course-specific context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Not guaranteed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Yes – uploaded files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6F1E6"/>
                          </a:solidFill>
                          <a:latin typeface="Arial"/>
                        </a:rPr>
                        <a:t>Yes – uploaded files</a:t>
                      </a:r>
                    </a:p>
                  </a:txBody>
                  <a:tcPr anchor="ctr" marL="164592" marR="164592" marT="45720" marB="45720">
                    <a:solidFill>
                      <a:srgbClr val="6E4A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Retrieval strategy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Single lexical query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6F1E6"/>
                          </a:solidFill>
                          <a:latin typeface="Arial"/>
                        </a:rPr>
                        <a:t>Original + alternate lexical queries</a:t>
                      </a:r>
                    </a:p>
                  </a:txBody>
                  <a:tcPr anchor="ctr" marL="164592" marR="164592" marT="45720" marB="45720">
                    <a:solidFill>
                      <a:srgbClr val="6E4A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Answer criticism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6F1E6"/>
                          </a:solidFill>
                          <a:latin typeface="Arial"/>
                        </a:rPr>
                        <a:t>Optional critic stage</a:t>
                      </a:r>
                    </a:p>
                  </a:txBody>
                  <a:tcPr anchor="ctr" marL="164592" marR="164592" marT="45720" marB="45720">
                    <a:solidFill>
                      <a:srgbClr val="6E4A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Source visibility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Not inherent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6F1E6"/>
                          </a:solidFill>
                          <a:latin typeface="Arial"/>
                        </a:rPr>
                        <a:t>Yes, critic-aware grounding</a:t>
                      </a:r>
                    </a:p>
                  </a:txBody>
                  <a:tcPr anchor="ctr" marL="164592" marR="164592" marT="45720" marB="45720">
                    <a:solidFill>
                      <a:srgbClr val="6E4A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Student memory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Not inherent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Not inherent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6F1E6"/>
                          </a:solidFill>
                          <a:latin typeface="Arial"/>
                        </a:rPr>
                        <a:t>SQLite profile and progress</a:t>
                      </a:r>
                    </a:p>
                  </a:txBody>
                  <a:tcPr anchor="ctr" marL="164592" marR="164592" marT="45720" marB="45720">
                    <a:solidFill>
                      <a:srgbClr val="6E4A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Quiz support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Via prompting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Via prompting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6F1E6"/>
                          </a:solidFill>
                          <a:latin typeface="Arial"/>
                        </a:rPr>
                        <a:t>Dedicated retrieval + generation</a:t>
                      </a:r>
                    </a:p>
                  </a:txBody>
                  <a:tcPr anchor="ctr" marL="164592" marR="164592" marT="45720" marB="45720">
                    <a:solidFill>
                      <a:srgbClr val="6E4A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Study planning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Prompt-based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Prompt-based</a:t>
                      </a:r>
                    </a:p>
                  </a:txBody>
                  <a:tcPr anchor="ctr" marL="164592" marR="164592" marT="45720" marB="45720">
                    <a:solidFill>
                      <a:srgbClr val="E6D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6F1E6"/>
                          </a:solidFill>
                          <a:latin typeface="Arial"/>
                        </a:rPr>
                        <a:t>Draft + approval workflow</a:t>
                      </a:r>
                    </a:p>
                  </a:txBody>
                  <a:tcPr anchor="ctr" marL="164592" marR="164592" marT="45720" marB="45720">
                    <a:solidFill>
                      <a:srgbClr val="6E4A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3A1F5C"/>
                          </a:solidFill>
                          <a:latin typeface="Arial"/>
                        </a:rPr>
                        <a:t>Human approval for plan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3A1F5C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 marL="164592" marR="164592" marT="45720" marB="45720">
                    <a:solidFill>
                      <a:srgbClr val="F1E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F6F1E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 marL="164592" marR="164592" marT="45720" marB="45720">
                    <a:solidFill>
                      <a:srgbClr val="6E4A8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Limitations &amp; Future Work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16</a:t>
            </a:r>
          </a:p>
        </p:txBody>
      </p:sp>
      <p:sp>
        <p:nvSpPr>
          <p:cNvPr id="5" name="Limitations card"/>
          <p:cNvSpPr/>
          <p:nvPr/>
        </p:nvSpPr>
        <p:spPr>
          <a:xfrm>
            <a:off x="1143000" y="2286000"/>
            <a:ext cx="7818120" cy="69494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Current limitations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Lexical retrieval: different wording lowers recall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Uploads are session-only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No sign-in or per-user isolation; not for public use with real student data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Scanned PDFs are not OCR-processed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AI features depend on Groq access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SQLite suits a prototype, not high concurrency</a:t>
            </a:r>
          </a:p>
        </p:txBody>
      </p:sp>
      <p:sp>
        <p:nvSpPr>
          <p:cNvPr id="6" name="Future work card"/>
          <p:cNvSpPr/>
          <p:nvPr/>
        </p:nvSpPr>
        <p:spPr>
          <a:xfrm>
            <a:off x="9326880" y="2286000"/>
            <a:ext cx="7818120" cy="69494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6F1E6"/>
                </a:solidFill>
                <a:latin typeface="Arial"/>
              </a:rPr>
              <a:t>Future work (by priority)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Semantic or hybrid retrieval with embeddings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Reranking and metadata-aware retrieval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Authentication and per-user isolation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Persistent course-material library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OCR for scanned documents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Adaptive quizzes and learning analytics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Multi-provider or local LLM support</a:t>
            </a:r>
          </a:p>
          <a:p>
            <a:pPr algn="l" marL="342900" indent="-342900">
              <a:spcAft>
                <a:spcPts val="600"/>
              </a:spcAft>
              <a:buChar char="•"/>
            </a:pPr>
            <a:r>
              <a:rPr sz="2200" b="0" i="0">
                <a:solidFill>
                  <a:srgbClr val="F6F1E6"/>
                </a:solidFill>
                <a:latin typeface="Arial"/>
              </a:rPr>
              <a:t>Semantic and human-rated evaluation; teacher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0" y="731520"/>
            <a:ext cx="13761720" cy="777240"/>
          </a:xfrm>
        </p:spPr>
        <p:txBody>
          <a:bodyPr wrap="square"/>
          <a:lstStyle/>
          <a:p>
            <a:pPr algn="r"/>
            <a:r>
              <a:rPr sz="4000"/>
              <a:t>Conclusion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400800" y="9601200"/>
            <a:ext cx="5486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Department of AI &amp; ML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5727680" y="9601200"/>
            <a:ext cx="1417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5D5661"/>
                </a:solidFill>
                <a:latin typeface="Arial"/>
              </a:rPr>
              <a:t>17</a:t>
            </a:r>
          </a:p>
        </p:txBody>
      </p:sp>
      <p:sp>
        <p:nvSpPr>
          <p:cNvPr id="5" name="Takeaway card 1"/>
          <p:cNvSpPr/>
          <p:nvPr/>
        </p:nvSpPr>
        <p:spPr>
          <a:xfrm>
            <a:off x="1143000" y="2286000"/>
            <a:ext cx="5120640" cy="420624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F6F1E6"/>
                </a:solidFill>
                <a:latin typeface="Arial"/>
              </a:rPr>
              <a:t>Multi-step, not one-step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Plan → retrieve → draft → critique, orchestrated by LangGraph with explicit state and routing.</a:t>
            </a:r>
          </a:p>
        </p:txBody>
      </p:sp>
      <p:sp>
        <p:nvSpPr>
          <p:cNvPr id="6" name="Takeaway card 2"/>
          <p:cNvSpPr/>
          <p:nvPr/>
        </p:nvSpPr>
        <p:spPr>
          <a:xfrm>
            <a:off x="6583679" y="2286000"/>
            <a:ext cx="5120640" cy="4206240"/>
          </a:xfrm>
          <a:prstGeom prst="roundRect">
            <a:avLst>
              <a:gd name="adj" fmla="val 5000"/>
            </a:avLst>
          </a:prstGeom>
          <a:solidFill>
            <a:srgbClr val="6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F6F1E6"/>
                </a:solidFill>
                <a:latin typeface="Arial"/>
              </a:rPr>
              <a:t>Human stays in control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The AI drafts study plans; the student approves or discards. Quizzes are scored locally.</a:t>
            </a:r>
          </a:p>
        </p:txBody>
      </p:sp>
      <p:sp>
        <p:nvSpPr>
          <p:cNvPr id="7" name="Takeaway card 3"/>
          <p:cNvSpPr/>
          <p:nvPr/>
        </p:nvSpPr>
        <p:spPr>
          <a:xfrm>
            <a:off x="12024359" y="2286000"/>
            <a:ext cx="5120640" cy="4206240"/>
          </a:xfrm>
          <a:prstGeom prst="roundRect">
            <a:avLst>
              <a:gd name="adj" fmla="val 5000"/>
            </a:avLst>
          </a:prstGeom>
          <a:solidFill>
            <a:srgbClr val="8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82880"/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F6F1E6"/>
                </a:solidFill>
                <a:latin typeface="Arial"/>
              </a:rPr>
              <a:t>Responsible engineering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6F1E6"/>
                </a:solidFill>
                <a:latin typeface="Arial"/>
              </a:rPr>
              <a:t>Env-based API keys, bounded history, JSON validation and documented security limits.</a:t>
            </a:r>
          </a:p>
        </p:txBody>
      </p:sp>
      <p:sp>
        <p:nvSpPr>
          <p:cNvPr id="8" name="Thank you panel"/>
          <p:cNvSpPr/>
          <p:nvPr/>
        </p:nvSpPr>
        <p:spPr>
          <a:xfrm>
            <a:off x="1143000" y="6949440"/>
            <a:ext cx="16002000" cy="2286000"/>
          </a:xfrm>
          <a:prstGeom prst="roundRect">
            <a:avLst>
              <a:gd name="adj" fmla="val 5000"/>
            </a:avLst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182880"/>
          <a:lstStyle/>
          <a:p>
            <a:pPr algn="ctr">
              <a:spcAft>
                <a:spcPts val="400"/>
              </a:spcAft>
            </a:pPr>
            <a:r>
              <a:rPr sz="5400" b="1" i="0">
                <a:solidFill>
                  <a:srgbClr val="F6F1E6"/>
                </a:solidFill>
                <a:latin typeface="Times New Roman"/>
              </a:rPr>
              <a:t>Thank You</a:t>
            </a:r>
          </a:p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F6F1E6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Aniruth SV</dc:creator>
  <cp:keywords>DAHW9N3-Lr0,BAEPpMw4vJo</cp:keywords>
  <dc:title>SentinelAI-Detailed-Agentic-AI-Presentation.pptx</dc:title>
  <dcterms:created xsi:type="dcterms:W3CDTF">2026-10-05T13:16:16Z</dcterms:created>
  <dcterms:modified xsi:type="dcterms:W3CDTF">2026-10-05T13:16:16Z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Canva</vt:lpwstr>
  </property>
  <property fmtid="{D5CDD505-2E9C-101B-9397-08002B2CF9AE}" pid="5" name="LastSaved">
    <vt:filetime>2026-10-05T00:00:00Z</vt:filetime>
  </property>
  <property fmtid="{D5CDD505-2E9C-101B-9397-08002B2CF9AE}" pid="6" name="Producer">
    <vt:lpwstr>Canva</vt:lpwstr>
  </property>
</Properties>
</file>